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</p:sldIdLst>
  <p:sldSz cx="12192000" cy="6858000"/>
  <p:notesSz cx="6858000" cy="9144000"/>
  <p:embeddedFontLst>
    <p:embeddedFont>
      <p:font typeface="Inter" panose="020B0604020202020204" charset="0"/>
      <p:regular r:id="rId10"/>
      <p:bold r:id="rId11"/>
      <p:italic r:id="rId12"/>
      <p:boldItalic r:id="rId13"/>
    </p:embeddedFont>
    <p:embeddedFont>
      <p:font typeface="Inter SemiBold" panose="020B0604020202020204" charset="0"/>
      <p:regular r:id="rId14"/>
      <p:bold r:id="rId15"/>
      <p:italic r:id="rId16"/>
      <p:boldItalic r:id="rId17"/>
    </p:embeddedFont>
    <p:embeddedFont>
      <p:font typeface="Urbanist" panose="020B0604020202020204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viewProps" Target="viewProp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29312" y="1657350"/>
            <a:ext cx="333375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0" y="1443037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2635567" y="2490787"/>
            <a:ext cx="692086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100" b="1" i="0" u="none" strike="noStrike" cap="none">
                <a:solidFill>
                  <a:srgbClr val="1E293B"/>
                </a:solidFill>
                <a:latin typeface="Urbanist"/>
                <a:ea typeface="Urbanist"/>
                <a:cs typeface="Urbanist"/>
                <a:sym typeface="Urbanist"/>
              </a:rPr>
              <a:t>Impacto Ley 27.642 en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100" b="1" i="0" u="none" strike="noStrike" cap="none">
                <a:solidFill>
                  <a:srgbClr val="0D9488"/>
                </a:solidFill>
                <a:latin typeface="Urbanist"/>
                <a:ea typeface="Urbanist"/>
                <a:cs typeface="Urbanist"/>
                <a:sym typeface="Urbanist"/>
              </a:rPr>
              <a:t>Categoría Cereales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3067050" y="4243387"/>
            <a:ext cx="60579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Análisis de Desempeño y Transformaciones 2022-2024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5119687" y="5224462"/>
            <a:ext cx="19526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INFORME GERENCIAL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/>
          <p:nvPr/>
        </p:nvSpPr>
        <p:spPr>
          <a:xfrm>
            <a:off x="3895725" y="5943600"/>
            <a:ext cx="171450" cy="171450"/>
          </a:xfrm>
          <a:prstGeom prst="roundRect">
            <a:avLst>
              <a:gd name="adj" fmla="val 16666"/>
            </a:avLst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/>
          <p:nvPr/>
        </p:nvSpPr>
        <p:spPr>
          <a:xfrm>
            <a:off x="5562600" y="5943600"/>
            <a:ext cx="171450" cy="171450"/>
          </a:xfrm>
          <a:prstGeom prst="roundRect">
            <a:avLst>
              <a:gd name="adj" fmla="val 16666"/>
            </a:avLst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/>
          <p:nvPr/>
        </p:nvSpPr>
        <p:spPr>
          <a:xfrm>
            <a:off x="7143750" y="6019800"/>
            <a:ext cx="238125" cy="19050"/>
          </a:xfrm>
          <a:prstGeom prst="rect">
            <a:avLst/>
          </a:prstGeom>
          <a:noFill/>
          <a:ln w="19050" cap="flat" cmpd="sng">
            <a:solidFill>
              <a:srgbClr val="F973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762000" y="476250"/>
            <a:ext cx="11401425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EVOLUCIÓN MENSUAL DE CANTIDADES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571500" y="476250"/>
            <a:ext cx="57150" cy="43815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E507CCA-B411-8CF9-FCCB-967D57C0A3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762398"/>
            <a:ext cx="12187425" cy="435265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 txBox="1"/>
          <p:nvPr/>
        </p:nvSpPr>
        <p:spPr>
          <a:xfrm>
            <a:off x="571500" y="5857875"/>
            <a:ext cx="110490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* Cantidad promedio de unidades mensuales normalizado por cantidad de meses.</a:t>
            </a:r>
            <a:endParaRPr lang="en-US"/>
          </a:p>
        </p:txBody>
      </p:sp>
      <p:sp>
        <p:nvSpPr>
          <p:cNvPr id="108" name="Google Shape;108;p15"/>
          <p:cNvSpPr txBox="1"/>
          <p:nvPr/>
        </p:nvSpPr>
        <p:spPr>
          <a:xfrm>
            <a:off x="762000" y="476250"/>
            <a:ext cx="11401425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ANÁLISIS PROMEDIO MENSUAL</a:t>
            </a:r>
            <a:endParaRPr lang="en-US"/>
          </a:p>
        </p:txBody>
      </p:sp>
      <p:sp>
        <p:nvSpPr>
          <p:cNvPr id="109" name="Google Shape;109;p15"/>
          <p:cNvSpPr/>
          <p:nvPr/>
        </p:nvSpPr>
        <p:spPr>
          <a:xfrm>
            <a:off x="571500" y="476250"/>
            <a:ext cx="57150" cy="43815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8AE6CB4-F303-96ED-0545-705331CA33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1540" y="1143189"/>
            <a:ext cx="8228919" cy="457162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6"/>
          <p:cNvSpPr/>
          <p:nvPr/>
        </p:nvSpPr>
        <p:spPr>
          <a:xfrm>
            <a:off x="4252912" y="6010275"/>
            <a:ext cx="190500" cy="381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6"/>
          <p:cNvSpPr/>
          <p:nvPr/>
        </p:nvSpPr>
        <p:spPr>
          <a:xfrm>
            <a:off x="6338887" y="6019800"/>
            <a:ext cx="190500" cy="19050"/>
          </a:xfrm>
          <a:prstGeom prst="rect">
            <a:avLst/>
          </a:prstGeom>
          <a:noFill/>
          <a:ln w="19050" cap="flat" cmpd="sng">
            <a:solidFill>
              <a:srgbClr val="E11D4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6"/>
          <p:cNvSpPr txBox="1"/>
          <p:nvPr/>
        </p:nvSpPr>
        <p:spPr>
          <a:xfrm>
            <a:off x="762000" y="476250"/>
            <a:ext cx="11401425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2850" b="1" i="0" u="none" strike="noStrike" cap="none" dirty="0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CORRELACIÓN: PRODUCTOS CON OCTÓGONO Y </a:t>
            </a:r>
            <a:r>
              <a:rPr lang="en-US" sz="2850" b="1" dirty="0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SIN OCTÓGONO</a:t>
            </a:r>
            <a:endParaRPr dirty="0"/>
          </a:p>
        </p:txBody>
      </p:sp>
      <p:sp>
        <p:nvSpPr>
          <p:cNvPr id="119" name="Google Shape;119;p16"/>
          <p:cNvSpPr/>
          <p:nvPr/>
        </p:nvSpPr>
        <p:spPr>
          <a:xfrm>
            <a:off x="571500" y="476250"/>
            <a:ext cx="57150" cy="43815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E32D272-6055-40C9-17C1-2C54DF3483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709057"/>
            <a:ext cx="12192000" cy="435428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629150"/>
            <a:ext cx="11049000" cy="70485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8"/>
          <p:cNvSpPr txBox="1"/>
          <p:nvPr/>
        </p:nvSpPr>
        <p:spPr>
          <a:xfrm>
            <a:off x="885825" y="2486025"/>
            <a:ext cx="1073467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Retracción del Segmento CON Octógono: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Caída neta del 18.3% en el promedio mensual post-ley.</a:t>
            </a:r>
            <a:endParaRPr/>
          </a:p>
        </p:txBody>
      </p:sp>
      <p:sp>
        <p:nvSpPr>
          <p:cNvPr id="137" name="Google Shape;137;p18"/>
          <p:cNvSpPr txBox="1"/>
          <p:nvPr/>
        </p:nvSpPr>
        <p:spPr>
          <a:xfrm>
            <a:off x="885825" y="2971800"/>
            <a:ext cx="1073467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Crecimiento del Segmento SIN Octógono: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Incremento del 16.6% en el promedio mensual post-ley.</a:t>
            </a:r>
            <a:endParaRPr/>
          </a:p>
        </p:txBody>
      </p:sp>
      <p:sp>
        <p:nvSpPr>
          <p:cNvPr id="138" name="Google Shape;138;p18"/>
          <p:cNvSpPr txBox="1"/>
          <p:nvPr/>
        </p:nvSpPr>
        <p:spPr>
          <a:xfrm>
            <a:off x="885825" y="3457575"/>
            <a:ext cx="1073467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Efecto Sustitución: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El consumidor migra de cereales tradicionales (bolitas, anillos) hacia opciones percibidas como saludables (avena, granola).</a:t>
            </a:r>
            <a:endParaRPr/>
          </a:p>
        </p:txBody>
      </p:sp>
      <p:sp>
        <p:nvSpPr>
          <p:cNvPr id="139" name="Google Shape;139;p18"/>
          <p:cNvSpPr txBox="1"/>
          <p:nvPr/>
        </p:nvSpPr>
        <p:spPr>
          <a:xfrm>
            <a:off x="857250" y="4867275"/>
            <a:ext cx="105251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Nota: La caída del segmento tradicional es 1.1 veces superior al crecimiento nominal del saludable.</a:t>
            </a:r>
            <a:endParaRPr/>
          </a:p>
        </p:txBody>
      </p:sp>
      <p:pic>
        <p:nvPicPr>
          <p:cNvPr id="140" name="Google Shape;140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52888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01466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500437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8"/>
          <p:cNvSpPr txBox="1"/>
          <p:nvPr/>
        </p:nvSpPr>
        <p:spPr>
          <a:xfrm>
            <a:off x="762000" y="476250"/>
            <a:ext cx="11401425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TRANSFORMACIÓN 1: DINÁMICA DE VOLUMEN</a:t>
            </a:r>
            <a:endParaRPr/>
          </a:p>
        </p:txBody>
      </p:sp>
      <p:sp>
        <p:nvSpPr>
          <p:cNvPr id="144" name="Google Shape;144;p18"/>
          <p:cNvSpPr/>
          <p:nvPr/>
        </p:nvSpPr>
        <p:spPr>
          <a:xfrm>
            <a:off x="571500" y="476250"/>
            <a:ext cx="57150" cy="43815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9"/>
          <p:cNvSpPr txBox="1"/>
          <p:nvPr/>
        </p:nvSpPr>
        <p:spPr>
          <a:xfrm>
            <a:off x="904875" y="2733675"/>
            <a:ext cx="107156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Sensibilidad al Precio: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Los productos CON octógono muestran una correlación inversa agresiva entre precio real y cantidad vendida.</a:t>
            </a:r>
            <a:endParaRPr/>
          </a:p>
        </p:txBody>
      </p:sp>
      <p:sp>
        <p:nvSpPr>
          <p:cNvPr id="151" name="Google Shape;151;p19"/>
          <p:cNvSpPr txBox="1"/>
          <p:nvPr/>
        </p:nvSpPr>
        <p:spPr>
          <a:xfrm>
            <a:off x="904875" y="3467100"/>
            <a:ext cx="107156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Resiliencia del Segmento SIN: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 pesar del aumento en el precio real mensual, la cantidad vendida se mantiene estable.</a:t>
            </a:r>
            <a:endParaRPr/>
          </a:p>
        </p:txBody>
      </p:sp>
      <p:sp>
        <p:nvSpPr>
          <p:cNvPr id="152" name="Google Shape;152;p19"/>
          <p:cNvSpPr txBox="1"/>
          <p:nvPr/>
        </p:nvSpPr>
        <p:spPr>
          <a:xfrm>
            <a:off x="952500" y="4200525"/>
            <a:ext cx="106680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Valor Percibido: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El atributo "Saludable" actúa como un buffer contra la inflación, permitiendo sostener volúmenes con precios más altos.</a:t>
            </a:r>
            <a:endParaRPr/>
          </a:p>
        </p:txBody>
      </p:sp>
      <p:pic>
        <p:nvPicPr>
          <p:cNvPr id="153" name="Google Shape;153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77653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50996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243387"/>
            <a:ext cx="2381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/>
        </p:nvSpPr>
        <p:spPr>
          <a:xfrm>
            <a:off x="762000" y="476250"/>
            <a:ext cx="11401425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TRANSFORMACIÓN 3: ELASTICIDAD Y PRECIOS</a:t>
            </a:r>
            <a:endParaRPr/>
          </a:p>
        </p:txBody>
      </p:sp>
      <p:sp>
        <p:nvSpPr>
          <p:cNvPr id="157" name="Google Shape;157;p19"/>
          <p:cNvSpPr/>
          <p:nvPr/>
        </p:nvSpPr>
        <p:spPr>
          <a:xfrm>
            <a:off x="571500" y="476250"/>
            <a:ext cx="57150" cy="43815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71750" y="2733675"/>
            <a:ext cx="3333750" cy="153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733675"/>
            <a:ext cx="3333750" cy="1533525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0"/>
          <p:cNvSpPr txBox="1"/>
          <p:nvPr/>
        </p:nvSpPr>
        <p:spPr>
          <a:xfrm>
            <a:off x="2857500" y="3019425"/>
            <a:ext cx="2762250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E11D48"/>
                </a:solidFill>
                <a:latin typeface="Inter"/>
                <a:ea typeface="Inter"/>
                <a:cs typeface="Inter"/>
                <a:sym typeface="Inter"/>
              </a:rPr>
              <a:t>-18.3%</a:t>
            </a:r>
            <a:endParaRPr/>
          </a:p>
        </p:txBody>
      </p:sp>
      <p:sp>
        <p:nvSpPr>
          <p:cNvPr id="166" name="Google Shape;166;p20"/>
          <p:cNvSpPr txBox="1"/>
          <p:nvPr/>
        </p:nvSpPr>
        <p:spPr>
          <a:xfrm>
            <a:off x="2857500" y="3638550"/>
            <a:ext cx="27622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Cantidades CON</a:t>
            </a:r>
            <a:endParaRPr/>
          </a:p>
        </p:txBody>
      </p:sp>
      <p:sp>
        <p:nvSpPr>
          <p:cNvPr id="167" name="Google Shape;167;p20"/>
          <p:cNvSpPr txBox="1"/>
          <p:nvPr/>
        </p:nvSpPr>
        <p:spPr>
          <a:xfrm>
            <a:off x="6572250" y="3019425"/>
            <a:ext cx="2762250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+16.6%</a:t>
            </a:r>
            <a:endParaRPr/>
          </a:p>
        </p:txBody>
      </p:sp>
      <p:sp>
        <p:nvSpPr>
          <p:cNvPr id="168" name="Google Shape;168;p20"/>
          <p:cNvSpPr txBox="1"/>
          <p:nvPr/>
        </p:nvSpPr>
        <p:spPr>
          <a:xfrm>
            <a:off x="6572250" y="3638550"/>
            <a:ext cx="27622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Cantidades SIN</a:t>
            </a:r>
            <a:endParaRPr/>
          </a:p>
        </p:txBody>
      </p:sp>
      <p:sp>
        <p:nvSpPr>
          <p:cNvPr id="169" name="Google Shape;169;p20"/>
          <p:cNvSpPr txBox="1"/>
          <p:nvPr/>
        </p:nvSpPr>
        <p:spPr>
          <a:xfrm>
            <a:off x="3970734" y="1743075"/>
            <a:ext cx="4250531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1" i="0" u="none" strike="noStrike" cap="non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Resumen del Informe</a:t>
            </a:r>
            <a:endParaRPr/>
          </a:p>
        </p:txBody>
      </p:sp>
      <p:sp>
        <p:nvSpPr>
          <p:cNvPr id="170" name="Google Shape;170;p20"/>
          <p:cNvSpPr txBox="1"/>
          <p:nvPr/>
        </p:nvSpPr>
        <p:spPr>
          <a:xfrm>
            <a:off x="4852987" y="4743450"/>
            <a:ext cx="248602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General Cereales 2022 - 2024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212</Words>
  <Application>Microsoft Office PowerPoint</Application>
  <PresentationFormat>Panorámica</PresentationFormat>
  <Paragraphs>22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3" baseType="lpstr">
      <vt:lpstr>Urbanist</vt:lpstr>
      <vt:lpstr>Arial</vt:lpstr>
      <vt:lpstr>Calibri</vt:lpstr>
      <vt:lpstr>Inter</vt:lpstr>
      <vt:lpstr>Inter SemiBold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Lucas Carbonell</cp:lastModifiedBy>
  <cp:revision>1</cp:revision>
  <dcterms:modified xsi:type="dcterms:W3CDTF">2026-06-11T20:00:09Z</dcterms:modified>
</cp:coreProperties>
</file>