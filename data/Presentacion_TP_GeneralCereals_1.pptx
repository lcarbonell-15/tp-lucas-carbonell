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 octógono</c:v>
                </c:pt>
              </c:strCache>
            </c:strRef>
          </c:tx>
          <c:spPr>
            <a:solidFill>
              <a:srgbClr val="D64545"/>
            </a:solidFill>
            <a:effectLst/>
          </c:spPr>
          <c:invertIfNegative val="0"/>
          <c:dLbls>
            <c:numFmt formatCode="0.00&quot; M&quot;" sourceLinked="0"/>
            <c:txPr>
              <a:bodyPr/>
              <a:lstStyle/>
              <a:p>
                <a:pPr>
                  <a:defRPr b="0" i="0" strike="noStrike" sz="1100" u="none">
                    <a:solidFill>
                      <a:srgbClr val="1F2A37"/>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Pre-ley (ene–jun 2022)</c:v>
                  </c:pt>
                  <c:pt idx="1">
                    <c:v>Post-ley (jul 2022–dic 2024)</c:v>
                  </c:pt>
                </c:lvl>
              </c:multiLvlStrCache>
            </c:multiLvlStrRef>
          </c:cat>
          <c:val>
            <c:numRef>
              <c:f>Sheet1!$B$2:$B$3</c:f>
              <c:numCache>
                <c:formatCode>General</c:formatCode>
                <c:ptCount val="2"/>
                <c:pt idx="0">
                  <c:v>0.9</c:v>
                </c:pt>
                <c:pt idx="1">
                  <c:v>0.736</c:v>
                </c:pt>
              </c:numCache>
            </c:numRef>
          </c:val>
        </c:ser>
        <c:ser>
          <c:idx val="1"/>
          <c:order val="1"/>
          <c:tx>
            <c:strRef>
              <c:f>Sheet1!$C$1</c:f>
              <c:strCache>
                <c:ptCount val="1"/>
                <c:pt idx="0">
                  <c:v>SIN octógono</c:v>
                </c:pt>
              </c:strCache>
            </c:strRef>
          </c:tx>
          <c:spPr>
            <a:solidFill>
              <a:srgbClr val="1A9E8F"/>
            </a:solidFill>
            <a:effectLst/>
          </c:spPr>
          <c:invertIfNegative val="0"/>
          <c:dLbls>
            <c:numFmt formatCode="0.00&quot; M&quot;" sourceLinked="0"/>
            <c:txPr>
              <a:bodyPr/>
              <a:lstStyle/>
              <a:p>
                <a:pPr>
                  <a:defRPr b="0" i="0" strike="noStrike" sz="1100" u="none">
                    <a:solidFill>
                      <a:srgbClr val="1F2A37"/>
                    </a:solidFill>
                    <a:latin typeface="Arial"/>
                  </a:defRPr>
                </a:pPr>
              </a:p>
            </c:txPr>
            <c:showLegendKey val="0"/>
            <c:showVal val="1"/>
            <c:showCatName val="0"/>
            <c:showSerName val="0"/>
            <c:showPercent val="0"/>
            <c:showBubbleSize val="0"/>
            <c:showLeaderLines val="0"/>
          </c:dLbls>
          <c:cat>
            <c:multiLvlStrRef>
              <c:f>Sheet1!$A$2:$A$3</c:f>
              <c:multiLvlStrCache>
                <c:ptCount val="2"/>
                <c:lvl>
                  <c:pt idx="0">
                    <c:v>Pre-ley (ene–jun 2022)</c:v>
                  </c:pt>
                  <c:pt idx="1">
                    <c:v>Post-ley (jul 2022–dic 2024)</c:v>
                  </c:pt>
                </c:lvl>
              </c:multiLvlStrCache>
            </c:multiLvlStrRef>
          </c:cat>
          <c:val>
            <c:numRef>
              <c:f>Sheet1!$C$2:$C$3</c:f>
              <c:numCache>
                <c:formatCode>General</c:formatCode>
                <c:ptCount val="2"/>
                <c:pt idx="0">
                  <c:v>0.099</c:v>
                </c:pt>
                <c:pt idx="1">
                  <c:v>0.116</c:v>
                </c:pt>
              </c:numCache>
            </c:numRef>
          </c:val>
        </c:ser>
        <c:dLbls>
          <c:numFmt formatCode="0.00&quot; M&quot;" sourceLinked="0"/>
          <c:txPr>
            <a:bodyPr/>
            <a:lstStyle/>
            <a:p>
              <a:pPr>
                <a:defRPr b="0" i="0" strike="noStrike" sz="1100" u="none">
                  <a:solidFill>
                    <a:srgbClr val="1F2A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7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AEEF3"/>
              </a:solidFill>
              <a:prstDash val="solid"/>
              <a:round/>
            </a:ln>
          </c:spPr>
        </c:majorGridlines>
        <c:title>
          <c:tx>
            <c:rich>
              <a:bodyPr/>
              <a:lstStyle/>
              <a:p>
                <a:pPr>
                  <a:defRPr sz="1000" b="0" i="0" u="none" strike="noStrike">
                    <a:solidFill>
                      <a:srgbClr val="6B7785"/>
                    </a:solidFill>
                    <a:latin typeface="Arial"/>
                  </a:defRPr>
                </a:pPr>
                <a:r>
                  <a:rPr sz="1000" b="0" i="0" u="none" strike="noStrike">
                    <a:solidFill>
                      <a:srgbClr val="6B7785"/>
                    </a:solidFill>
                    <a:latin typeface="Arial"/>
                  </a:rPr>
                  <a:t>Millones de unidades / mes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A37"/>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Presentate vos y el grupo. Una sola frase: estudiamos si la ley de los octógonos hizo que se vendieran menos los productos que recibieron el sello, usando datos reales de General Cereals (marca NUTRI FOODS). No leas la portada.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demostrás que pensaste el problema. Subrayá la pregunta central y por qué el control por inflación es clave en Argentina: las ventas pueden caer solo porque subió todo, no por el octógono. El truco metodológico es que la misma empresa vende productos con y sin sello: grupo de control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transformaciones. La más importante y la que da puntos: T3, la deflación por FACPCE. Mencioná que limpiaron un CSV de formato atípico antes de poder analizarlo. Si preguntan por qué promedio mensual y no total: porque las ventanas pre/post tienen distinto largo.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Bajá la velocidad acá. Señalá la línea naranja vertical: es julio 2022, cuando entra la ley. El rojo (CON octógono) arranca arriba del millón de unidades y baja con tendencia clara; el verde (SIN) se mantiene estable. La divergencia se ve más fuerte en 2023, primer año completo con la 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hallazgo principal en una imagen. Los CON octógono bajan 18,3% su promedio mensual; los SIN suben 16,6%. La brecha entre los dos grupos es de casi 35 puntos. Ojo: comparamos promedios mensuales, no totales, justamente por las ventanas de distinto largo.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que convierte el trabajo en un argumento sólido. La pregunta obvia: ¿y si CON cayó solo porque subió más de precio? No: deflactando por FACPCE, ambos grupos tuvieron precios reales parecidos, y de hecho el SIN se encareció MÁS y aun así creció. Si el precio no explica la diferencia, el factor que queda es el etiquetado.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elasticidad-arco se calculó con SymPy (método del punto medio). CON da −0,15 (cae como un bien normal). SIN da +0,11, que es raro: sube la cantidad aunque sube el precio. Eso es un efecto sustituto: la gente migró de los productos con sello a los sin sello. Si preguntan qué es elasticidad: mide cuánto cambia la cantidad ante un cambio de precio.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Cerrá fuerte y claro, sin datos nuevos. Cuatro ideas: la brecha, que el precio no lo explica, el efecto sustituto, y que el efecto persiste en el tiempo. Remate: la evidencia es consistente con que la ley funcionó en la dirección buscada.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límites suma madurez, no los saltees. Mencioná que usaron Claude como asistente (siguiendo el Ejemplo 1 del enunciado) pero que el criterio analítico fue del grupo: el equipo detectó que la inflación distorsionaba la lectura y que faltaba deflactar. Cerrá invitando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F"/>
        </a:solidFill>
      </p:bgPr>
    </p:bg>
    <p:spTree>
      <p:nvGrpSpPr>
        <p:cNvPr id="1" name=""/>
        <p:cNvGrpSpPr/>
        <p:nvPr/>
      </p:nvGrpSpPr>
      <p:grpSpPr>
        <a:xfrm>
          <a:off x="0" y="0"/>
          <a:ext cx="0" cy="0"/>
          <a:chOff x="0" y="0"/>
          <a:chExt cx="0" cy="0"/>
        </a:xfrm>
      </p:grpSpPr>
      <p:sp>
        <p:nvSpPr>
          <p:cNvPr id="2" name="Shape 0"/>
          <p:cNvSpPr/>
          <p:nvPr/>
        </p:nvSpPr>
        <p:spPr>
          <a:xfrm>
            <a:off x="8869680" y="-2011680"/>
            <a:ext cx="5486400" cy="5486400"/>
          </a:xfrm>
          <a:prstGeom prst="ellipse">
            <a:avLst/>
          </a:prstGeom>
          <a:solidFill>
            <a:srgbClr val="1E3354"/>
          </a:solidFill>
          <a:ln/>
        </p:spPr>
      </p:sp>
      <p:pic>
        <p:nvPicPr>
          <p:cNvPr id="3" name="Image 0" descr="preencoded.png">    </p:cNvPr>
          <p:cNvPicPr>
            <a:picLocks noChangeAspect="1"/>
          </p:cNvPicPr>
          <p:nvPr/>
        </p:nvPicPr>
        <p:blipFill>
          <a:blip r:embed="rId1"/>
          <a:stretch>
            <a:fillRect/>
          </a:stretch>
        </p:blipFill>
        <p:spPr>
          <a:xfrm>
            <a:off x="9646920" y="566928"/>
            <a:ext cx="1554480" cy="1554480"/>
          </a:xfrm>
          <a:prstGeom prst="rect">
            <a:avLst/>
          </a:prstGeom>
        </p:spPr>
      </p:pic>
      <p:sp>
        <p:nvSpPr>
          <p:cNvPr id="4" name="Text 1"/>
          <p:cNvSpPr/>
          <p:nvPr/>
        </p:nvSpPr>
        <p:spPr>
          <a:xfrm>
            <a:off x="566928" y="685800"/>
            <a:ext cx="8229600" cy="274320"/>
          </a:xfrm>
          <a:prstGeom prst="rect">
            <a:avLst/>
          </a:prstGeom>
          <a:noFill/>
          <a:ln/>
        </p:spPr>
        <p:txBody>
          <a:bodyPr wrap="square" rtlCol="0" anchor="ctr"/>
          <a:lstStyle/>
          <a:p>
            <a:pPr indent="0" marL="0">
              <a:buNone/>
            </a:pPr>
            <a:r>
              <a:rPr lang="en-US" sz="1300" b="1" spc="200" kern="0" dirty="0">
                <a:solidFill>
                  <a:srgbClr val="1A9E8F"/>
                </a:solidFill>
                <a:latin typeface="Calibri" pitchFamily="34" charset="0"/>
                <a:ea typeface="Calibri" pitchFamily="34" charset="-122"/>
                <a:cs typeface="Calibri" pitchFamily="34" charset="-120"/>
              </a:rPr>
              <a:t>LABORATORIO DE MÉTODOS CUANTITATIVOS</a:t>
            </a:r>
            <a:endParaRPr lang="en-US" sz="1300" dirty="0"/>
          </a:p>
        </p:txBody>
      </p:sp>
      <p:sp>
        <p:nvSpPr>
          <p:cNvPr id="5" name="Text 2"/>
          <p:cNvSpPr/>
          <p:nvPr/>
        </p:nvSpPr>
        <p:spPr>
          <a:xfrm>
            <a:off x="566928" y="987552"/>
            <a:ext cx="8229600" cy="274320"/>
          </a:xfrm>
          <a:prstGeom prst="rect">
            <a:avLst/>
          </a:prstGeom>
          <a:noFill/>
          <a:ln/>
        </p:spPr>
        <p:txBody>
          <a:bodyPr wrap="square" rtlCol="0" anchor="ctr"/>
          <a:lstStyle/>
          <a:p>
            <a:pPr indent="0" marL="0">
              <a:buNone/>
            </a:pPr>
            <a:r>
              <a:rPr lang="en-US" sz="1200" dirty="0">
                <a:solidFill>
                  <a:srgbClr val="AAB6C6"/>
                </a:solidFill>
                <a:latin typeface="Calibri" pitchFamily="34" charset="0"/>
                <a:ea typeface="Calibri" pitchFamily="34" charset="-122"/>
                <a:cs typeface="Calibri" pitchFamily="34" charset="-120"/>
              </a:rPr>
              <a:t>Facultad de Ciencias Económicas · Universidad de Buenos Aires · 1C 2026</a:t>
            </a:r>
            <a:endParaRPr lang="en-US" sz="1200" dirty="0"/>
          </a:p>
        </p:txBody>
      </p:sp>
      <p:sp>
        <p:nvSpPr>
          <p:cNvPr id="6" name="Text 3"/>
          <p:cNvSpPr/>
          <p:nvPr/>
        </p:nvSpPr>
        <p:spPr>
          <a:xfrm>
            <a:off x="566928" y="2057400"/>
            <a:ext cx="10241280" cy="1737360"/>
          </a:xfrm>
          <a:prstGeom prst="rect">
            <a:avLst/>
          </a:prstGeom>
          <a:noFill/>
          <a:ln/>
        </p:spPr>
        <p:txBody>
          <a:bodyPr wrap="square" rtlCol="0" anchor="ct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Impacto de la Ley de Etiquetado Frontal</a:t>
            </a:r>
            <a:endParaRPr lang="en-US" sz="4000" dirty="0"/>
          </a:p>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sobre las ventas de </a:t>
            </a:r>
            <a:pPr indent="0" marL="0">
              <a:lnSpc>
                <a:spcPct val="102000"/>
              </a:lnSpc>
              <a:buNone/>
            </a:pPr>
            <a:r>
              <a:rPr lang="en-US" sz="4000" b="1" dirty="0">
                <a:solidFill>
                  <a:srgbClr val="1A9E8F"/>
                </a:solidFill>
                <a:latin typeface="Cambria" pitchFamily="34" charset="0"/>
                <a:ea typeface="Cambria" pitchFamily="34" charset="-122"/>
                <a:cs typeface="Cambria" pitchFamily="34" charset="-120"/>
              </a:rPr>
              <a:t>General Cereals S.A.</a:t>
            </a:r>
            <a:endParaRPr lang="en-US" sz="4000" dirty="0"/>
          </a:p>
        </p:txBody>
      </p:sp>
      <p:sp>
        <p:nvSpPr>
          <p:cNvPr id="7" name="Text 4"/>
          <p:cNvSpPr/>
          <p:nvPr/>
        </p:nvSpPr>
        <p:spPr>
          <a:xfrm>
            <a:off x="566928" y="3886200"/>
            <a:ext cx="10058400" cy="365760"/>
          </a:xfrm>
          <a:prstGeom prst="rect">
            <a:avLst/>
          </a:prstGeom>
          <a:noFill/>
          <a:ln/>
        </p:spPr>
        <p:txBody>
          <a:bodyPr wrap="square" rtlCol="0" anchor="ctr"/>
          <a:lstStyle/>
          <a:p>
            <a:pPr indent="0" marL="0">
              <a:buNone/>
            </a:pPr>
            <a:r>
              <a:rPr lang="en-US" sz="1600" i="1" dirty="0">
                <a:solidFill>
                  <a:srgbClr val="CDD7E3"/>
                </a:solidFill>
                <a:latin typeface="Calibri" pitchFamily="34" charset="0"/>
                <a:ea typeface="Calibri" pitchFamily="34" charset="-122"/>
                <a:cs typeface="Calibri" pitchFamily="34" charset="-120"/>
              </a:rPr>
              <a:t>Análisis cuantitativo con deflación de precios por coeficientes FACPCE · Ley 27.642</a:t>
            </a:r>
            <a:endParaRPr lang="en-US" sz="1600" dirty="0"/>
          </a:p>
        </p:txBody>
      </p:sp>
      <p:sp>
        <p:nvSpPr>
          <p:cNvPr id="8" name="Shape 5"/>
          <p:cNvSpPr/>
          <p:nvPr/>
        </p:nvSpPr>
        <p:spPr>
          <a:xfrm>
            <a:off x="566928" y="4892040"/>
            <a:ext cx="3154680" cy="1005840"/>
          </a:xfrm>
          <a:prstGeom prst="roundRect">
            <a:avLst>
              <a:gd name="adj" fmla="val 7273"/>
            </a:avLst>
          </a:prstGeom>
          <a:solidFill>
            <a:srgbClr val="1E3354"/>
          </a:solidFill>
          <a:ln/>
        </p:spPr>
      </p:sp>
      <p:sp>
        <p:nvSpPr>
          <p:cNvPr id="9" name="Text 6"/>
          <p:cNvSpPr/>
          <p:nvPr/>
        </p:nvSpPr>
        <p:spPr>
          <a:xfrm>
            <a:off x="795528" y="5029200"/>
            <a:ext cx="26974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54.769</a:t>
            </a:r>
            <a:endParaRPr lang="en-US" sz="2400" dirty="0"/>
          </a:p>
        </p:txBody>
      </p:sp>
      <p:sp>
        <p:nvSpPr>
          <p:cNvPr id="10" name="Text 7"/>
          <p:cNvSpPr/>
          <p:nvPr/>
        </p:nvSpPr>
        <p:spPr>
          <a:xfrm>
            <a:off x="795528" y="5486400"/>
            <a:ext cx="2697480" cy="320040"/>
          </a:xfrm>
          <a:prstGeom prst="rect">
            <a:avLst/>
          </a:prstGeom>
          <a:noFill/>
          <a:ln/>
        </p:spPr>
        <p:txBody>
          <a:bodyPr wrap="square" lIns="0" tIns="0" rIns="0" bIns="0" rtlCol="0" anchor="ctr"/>
          <a:lstStyle/>
          <a:p>
            <a:pPr indent="0" marL="0">
              <a:buNone/>
            </a:pPr>
            <a:r>
              <a:rPr lang="en-US" sz="1200" dirty="0">
                <a:solidFill>
                  <a:srgbClr val="1A9E8F"/>
                </a:solidFill>
                <a:latin typeface="Calibri" pitchFamily="34" charset="0"/>
                <a:ea typeface="Calibri" pitchFamily="34" charset="-122"/>
                <a:cs typeface="Calibri" pitchFamily="34" charset="-120"/>
              </a:rPr>
              <a:t>transacciones</a:t>
            </a:r>
            <a:endParaRPr lang="en-US" sz="1200" dirty="0"/>
          </a:p>
        </p:txBody>
      </p:sp>
      <p:sp>
        <p:nvSpPr>
          <p:cNvPr id="11" name="Shape 8"/>
          <p:cNvSpPr/>
          <p:nvPr/>
        </p:nvSpPr>
        <p:spPr>
          <a:xfrm>
            <a:off x="4087368" y="4892040"/>
            <a:ext cx="3154680" cy="1005840"/>
          </a:xfrm>
          <a:prstGeom prst="roundRect">
            <a:avLst>
              <a:gd name="adj" fmla="val 7273"/>
            </a:avLst>
          </a:prstGeom>
          <a:solidFill>
            <a:srgbClr val="1E3354"/>
          </a:solidFill>
          <a:ln/>
        </p:spPr>
      </p:sp>
      <p:sp>
        <p:nvSpPr>
          <p:cNvPr id="12" name="Text 9"/>
          <p:cNvSpPr/>
          <p:nvPr/>
        </p:nvSpPr>
        <p:spPr>
          <a:xfrm>
            <a:off x="4315968" y="5029200"/>
            <a:ext cx="26974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2022–2024</a:t>
            </a:r>
            <a:endParaRPr lang="en-US" sz="2400" dirty="0"/>
          </a:p>
        </p:txBody>
      </p:sp>
      <p:sp>
        <p:nvSpPr>
          <p:cNvPr id="13" name="Text 10"/>
          <p:cNvSpPr/>
          <p:nvPr/>
        </p:nvSpPr>
        <p:spPr>
          <a:xfrm>
            <a:off x="4315968" y="5486400"/>
            <a:ext cx="2697480" cy="320040"/>
          </a:xfrm>
          <a:prstGeom prst="rect">
            <a:avLst/>
          </a:prstGeom>
          <a:noFill/>
          <a:ln/>
        </p:spPr>
        <p:txBody>
          <a:bodyPr wrap="square" lIns="0" tIns="0" rIns="0" bIns="0" rtlCol="0" anchor="ctr"/>
          <a:lstStyle/>
          <a:p>
            <a:pPr indent="0" marL="0">
              <a:buNone/>
            </a:pPr>
            <a:r>
              <a:rPr lang="en-US" sz="1200" dirty="0">
                <a:solidFill>
                  <a:srgbClr val="1A9E8F"/>
                </a:solidFill>
                <a:latin typeface="Calibri" pitchFamily="34" charset="0"/>
                <a:ea typeface="Calibri" pitchFamily="34" charset="-122"/>
                <a:cs typeface="Calibri" pitchFamily="34" charset="-120"/>
              </a:rPr>
              <a:t>ene 2022 · dic 2024</a:t>
            </a:r>
            <a:endParaRPr lang="en-US" sz="1200" dirty="0"/>
          </a:p>
        </p:txBody>
      </p:sp>
      <p:sp>
        <p:nvSpPr>
          <p:cNvPr id="14" name="Shape 11"/>
          <p:cNvSpPr/>
          <p:nvPr/>
        </p:nvSpPr>
        <p:spPr>
          <a:xfrm>
            <a:off x="7607808" y="4892040"/>
            <a:ext cx="3154680" cy="1005840"/>
          </a:xfrm>
          <a:prstGeom prst="roundRect">
            <a:avLst>
              <a:gd name="adj" fmla="val 7273"/>
            </a:avLst>
          </a:prstGeom>
          <a:solidFill>
            <a:srgbClr val="1E3354"/>
          </a:solidFill>
          <a:ln/>
        </p:spPr>
      </p:sp>
      <p:sp>
        <p:nvSpPr>
          <p:cNvPr id="15" name="Text 12"/>
          <p:cNvSpPr/>
          <p:nvPr/>
        </p:nvSpPr>
        <p:spPr>
          <a:xfrm>
            <a:off x="7836408" y="5029200"/>
            <a:ext cx="26974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Python 3</a:t>
            </a:r>
            <a:endParaRPr lang="en-US" sz="2400" dirty="0"/>
          </a:p>
        </p:txBody>
      </p:sp>
      <p:sp>
        <p:nvSpPr>
          <p:cNvPr id="16" name="Text 13"/>
          <p:cNvSpPr/>
          <p:nvPr/>
        </p:nvSpPr>
        <p:spPr>
          <a:xfrm>
            <a:off x="7836408" y="5486400"/>
            <a:ext cx="2697480" cy="320040"/>
          </a:xfrm>
          <a:prstGeom prst="rect">
            <a:avLst/>
          </a:prstGeom>
          <a:noFill/>
          <a:ln/>
        </p:spPr>
        <p:txBody>
          <a:bodyPr wrap="square" lIns="0" tIns="0" rIns="0" bIns="0" rtlCol="0" anchor="ctr"/>
          <a:lstStyle/>
          <a:p>
            <a:pPr indent="0" marL="0">
              <a:buNone/>
            </a:pPr>
            <a:r>
              <a:rPr lang="en-US" sz="1200" dirty="0">
                <a:solidFill>
                  <a:srgbClr val="1A9E8F"/>
                </a:solidFill>
                <a:latin typeface="Calibri" pitchFamily="34" charset="0"/>
                <a:ea typeface="Calibri" pitchFamily="34" charset="-122"/>
                <a:cs typeface="Calibri" pitchFamily="34" charset="-120"/>
              </a:rPr>
              <a:t>pandas · numpy · sympy</a:t>
            </a:r>
            <a:endParaRPr lang="en-US" sz="1200" dirty="0"/>
          </a:p>
        </p:txBody>
      </p:sp>
      <p:sp>
        <p:nvSpPr>
          <p:cNvPr id="17" name="Text 14"/>
          <p:cNvSpPr/>
          <p:nvPr/>
        </p:nvSpPr>
        <p:spPr>
          <a:xfrm>
            <a:off x="566928" y="6355080"/>
            <a:ext cx="10058400" cy="274320"/>
          </a:xfrm>
          <a:prstGeom prst="rect">
            <a:avLst/>
          </a:prstGeom>
          <a:noFill/>
          <a:ln/>
        </p:spPr>
        <p:txBody>
          <a:bodyPr wrap="square" rtlCol="0" anchor="ctr"/>
          <a:lstStyle/>
          <a:p>
            <a:pPr indent="0" marL="0">
              <a:buNone/>
            </a:pPr>
            <a:r>
              <a:rPr lang="en-US" sz="1100" dirty="0">
                <a:solidFill>
                  <a:srgbClr val="8595A8"/>
                </a:solidFill>
                <a:latin typeface="Calibri" pitchFamily="34" charset="0"/>
                <a:ea typeface="Calibri" pitchFamily="34" charset="-122"/>
                <a:cs typeface="Calibri" pitchFamily="34" charset="-120"/>
              </a:rPr>
              <a:t>Trabajo Práctico Grupal · Primer Cuatrimestre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57200"/>
            <a:ext cx="548640" cy="548640"/>
          </a:xfrm>
          <a:prstGeom prst="rect">
            <a:avLst/>
          </a:prstGeom>
        </p:spPr>
      </p:pic>
      <p:sp>
        <p:nvSpPr>
          <p:cNvPr id="3" name="Shape 0"/>
          <p:cNvSpPr/>
          <p:nvPr/>
        </p:nvSpPr>
        <p:spPr>
          <a:xfrm>
            <a:off x="566928" y="457200"/>
            <a:ext cx="548640" cy="548640"/>
          </a:xfrm>
          <a:prstGeom prst="ellipse">
            <a:avLst/>
          </a:prstGeom>
          <a:solidFill>
            <a:srgbClr val="D64545"/>
          </a:solidFill>
          <a:ln/>
        </p:spPr>
      </p:sp>
      <p:pic>
        <p:nvPicPr>
          <p:cNvPr id="4" name="Image 1" descr="preencoded.png">    </p:cNvPr>
          <p:cNvPicPr>
            <a:picLocks noChangeAspect="1"/>
          </p:cNvPicPr>
          <p:nvPr/>
        </p:nvPicPr>
        <p:blipFill>
          <a:blip r:embed="rId2"/>
          <a:stretch>
            <a:fillRect/>
          </a:stretch>
        </p:blipFill>
        <p:spPr>
          <a:xfrm>
            <a:off x="685800" y="576072"/>
            <a:ext cx="310896" cy="310896"/>
          </a:xfrm>
          <a:prstGeom prst="rect">
            <a:avLst/>
          </a:prstGeom>
        </p:spPr>
      </p:pic>
      <p:sp>
        <p:nvSpPr>
          <p:cNvPr id="5" name="Text 1"/>
          <p:cNvSpPr/>
          <p:nvPr/>
        </p:nvSpPr>
        <p:spPr>
          <a:xfrm>
            <a:off x="1298448" y="420624"/>
            <a:ext cx="9144000" cy="274320"/>
          </a:xfrm>
          <a:prstGeom prst="rect">
            <a:avLst/>
          </a:prstGeom>
          <a:noFill/>
          <a:ln/>
        </p:spPr>
        <p:txBody>
          <a:bodyPr wrap="square" lIns="0" tIns="0" rIns="0" bIns="0" rtlCol="0" anchor="ctr"/>
          <a:lstStyle/>
          <a:p>
            <a:pPr indent="0" marL="0">
              <a:buNone/>
            </a:pPr>
            <a:r>
              <a:rPr lang="en-US" sz="1100" b="1" spc="200" kern="0" dirty="0">
                <a:solidFill>
                  <a:srgbClr val="D64545"/>
                </a:solidFill>
                <a:latin typeface="Calibri" pitchFamily="34" charset="0"/>
                <a:ea typeface="Calibri" pitchFamily="34" charset="-122"/>
                <a:cs typeface="Calibri" pitchFamily="34" charset="-120"/>
              </a:rPr>
              <a:t>INTRODUCCIÓN Y PREGUNTA DE INVESTIGACIÓN</a:t>
            </a:r>
            <a:endParaRPr lang="en-US" sz="1100" dirty="0"/>
          </a:p>
        </p:txBody>
      </p:sp>
      <p:sp>
        <p:nvSpPr>
          <p:cNvPr id="6" name="Text 2"/>
          <p:cNvSpPr/>
          <p:nvPr/>
        </p:nvSpPr>
        <p:spPr>
          <a:xfrm>
            <a:off x="1298448" y="658368"/>
            <a:ext cx="10424160" cy="50292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¿El octógono hizo vender menos?</a:t>
            </a:r>
            <a:endParaRPr lang="en-US" sz="2600" dirty="0"/>
          </a:p>
        </p:txBody>
      </p:sp>
      <p:sp>
        <p:nvSpPr>
          <p:cNvPr id="7" name="Text 3"/>
          <p:cNvSpPr/>
          <p:nvPr/>
        </p:nvSpPr>
        <p:spPr>
          <a:xfrm>
            <a:off x="566928" y="1600200"/>
            <a:ext cx="6309360" cy="3108960"/>
          </a:xfrm>
          <a:prstGeom prst="rect">
            <a:avLst/>
          </a:prstGeom>
          <a:noFill/>
          <a:ln/>
        </p:spPr>
        <p:txBody>
          <a:bodyPr wrap="square" rtlCol="0" anchor="t"/>
          <a:lstStyle/>
          <a:p>
            <a:pPr marL="342900" indent="-342900">
              <a:lnSpc>
                <a:spcPct val="106000"/>
              </a:lnSpc>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La Ley 27.642 (vigente desde julio 2022, Decreto 151/2022) obliga a exhibir octógonos negros de advertencia en alimentos que superan umbrales de nutrientes críticos.</a:t>
            </a:r>
            <a:endParaRPr lang="en-US" sz="1500" dirty="0"/>
          </a:p>
          <a:p>
            <a:pPr marL="342900" indent="-342900">
              <a:lnSpc>
                <a:spcPct val="106000"/>
              </a:lnSpc>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General Cereals (marca NUTRI FOODS) vende a la vez productos CON y SIN octógono: misma empresa, misma inflación, mismos canales. Eso crea un grupo de control natural.</a:t>
            </a:r>
            <a:endParaRPr lang="en-US" sz="1500" dirty="0"/>
          </a:p>
          <a:p>
            <a:pPr marL="342900" indent="-342900">
              <a:lnSpc>
                <a:spcPct val="106000"/>
              </a:lnSpc>
              <a:buSzPct val="100000"/>
              <a:buChar char="•"/>
            </a:pPr>
            <a:r>
              <a:rPr lang="en-US" sz="1500" dirty="0">
                <a:solidFill>
                  <a:srgbClr val="1F2A37"/>
                </a:solidFill>
                <a:latin typeface="Calibri" pitchFamily="34" charset="0"/>
                <a:ea typeface="Calibri" pitchFamily="34" charset="-122"/>
                <a:cs typeface="Calibri" pitchFamily="34" charset="-120"/>
              </a:rPr>
              <a:t>El desafío: la ley arrancó con inflación extrema (~1.171% acumulado 2022–2024). ¿La caída de ventas fue por el octógono o por la pérdida de poder adquisitivo?</a:t>
            </a:r>
            <a:endParaRPr lang="en-US" sz="1500" dirty="0"/>
          </a:p>
        </p:txBody>
      </p:sp>
      <p:sp>
        <p:nvSpPr>
          <p:cNvPr id="8" name="Shape 4"/>
          <p:cNvSpPr/>
          <p:nvPr/>
        </p:nvSpPr>
        <p:spPr>
          <a:xfrm>
            <a:off x="7178040" y="1554480"/>
            <a:ext cx="4443984" cy="3246120"/>
          </a:xfrm>
          <a:prstGeom prst="roundRect">
            <a:avLst>
              <a:gd name="adj" fmla="val 2254"/>
            </a:avLst>
          </a:prstGeom>
          <a:solidFill>
            <a:srgbClr val="16263F"/>
          </a:solidFill>
          <a:ln/>
          <a:effectLst>
            <a:outerShdw sx="100000" sy="100000" kx="0" ky="0" algn="bl" rotWithShape="0" blurRad="88900" dist="38100" dir="5400000">
              <a:srgbClr val="000000">
                <a:alpha val="16000"/>
              </a:srgbClr>
            </a:outerShdw>
          </a:effectLst>
        </p:spPr>
      </p:sp>
      <p:sp>
        <p:nvSpPr>
          <p:cNvPr id="9" name="Text 5"/>
          <p:cNvSpPr/>
          <p:nvPr/>
        </p:nvSpPr>
        <p:spPr>
          <a:xfrm>
            <a:off x="7498080" y="1828800"/>
            <a:ext cx="3803904" cy="274320"/>
          </a:xfrm>
          <a:prstGeom prst="rect">
            <a:avLst/>
          </a:prstGeom>
          <a:noFill/>
          <a:ln/>
        </p:spPr>
        <p:txBody>
          <a:bodyPr wrap="square" lIns="0" tIns="0" rIns="0" bIns="0" rtlCol="0" anchor="ctr"/>
          <a:lstStyle/>
          <a:p>
            <a:pPr indent="0" marL="0">
              <a:buNone/>
            </a:pPr>
            <a:r>
              <a:rPr lang="en-US" sz="1200" b="1" spc="200" kern="0" dirty="0">
                <a:solidFill>
                  <a:srgbClr val="1A9E8F"/>
                </a:solidFill>
                <a:latin typeface="Calibri" pitchFamily="34" charset="0"/>
                <a:ea typeface="Calibri" pitchFamily="34" charset="-122"/>
                <a:cs typeface="Calibri" pitchFamily="34" charset="-120"/>
              </a:rPr>
              <a:t>PREGUNTA CENTRAL</a:t>
            </a:r>
            <a:endParaRPr lang="en-US" sz="1200" dirty="0"/>
          </a:p>
        </p:txBody>
      </p:sp>
      <p:sp>
        <p:nvSpPr>
          <p:cNvPr id="10" name="Text 6"/>
          <p:cNvSpPr/>
          <p:nvPr/>
        </p:nvSpPr>
        <p:spPr>
          <a:xfrm>
            <a:off x="7498080" y="2194560"/>
            <a:ext cx="3803904" cy="2377440"/>
          </a:xfrm>
          <a:prstGeom prst="rect">
            <a:avLst/>
          </a:prstGeom>
          <a:noFill/>
          <a:ln/>
        </p:spPr>
        <p:txBody>
          <a:bodyPr wrap="square" lIns="0" tIns="0" rIns="0" bIns="0" rtlCol="0" anchor="t"/>
          <a:lstStyle/>
          <a:p>
            <a:pPr indent="0" marL="0">
              <a:lnSpc>
                <a:spcPct val="108000"/>
              </a:lnSpc>
              <a:buNone/>
            </a:pPr>
            <a:r>
              <a:rPr lang="en-US" sz="2100" b="1" dirty="0">
                <a:solidFill>
                  <a:srgbClr val="FFFFFF"/>
                </a:solidFill>
                <a:latin typeface="Cambria" pitchFamily="34" charset="0"/>
                <a:ea typeface="Cambria" pitchFamily="34" charset="-122"/>
                <a:cs typeface="Cambria" pitchFamily="34" charset="-120"/>
              </a:rPr>
              <a:t>¿Los productos que recibieron octógono vendieron menos unidades que los que no, una vez descontado el efecto de la inflación?</a:t>
            </a:r>
            <a:endParaRPr lang="en-US" sz="2100" dirty="0"/>
          </a:p>
        </p:txBody>
      </p:sp>
      <p:sp>
        <p:nvSpPr>
          <p:cNvPr id="11" name="Shape 7"/>
          <p:cNvSpPr/>
          <p:nvPr/>
        </p:nvSpPr>
        <p:spPr>
          <a:xfrm>
            <a:off x="566928" y="5074920"/>
            <a:ext cx="11064240" cy="1143000"/>
          </a:xfrm>
          <a:prstGeom prst="roundRect">
            <a:avLst>
              <a:gd name="adj" fmla="val 4800"/>
            </a:avLst>
          </a:prstGeom>
          <a:solidFill>
            <a:srgbClr val="FFF7E6"/>
          </a:solidFill>
          <a:ln/>
          <a:effectLst>
            <a:outerShdw sx="100000" sy="100000" kx="0" ky="0" algn="bl" rotWithShape="0" blurRad="88900" dist="38100" dir="5400000">
              <a:srgbClr val="000000">
                <a:alpha val="16000"/>
              </a:srgbClr>
            </a:outerShdw>
          </a:effectLst>
        </p:spPr>
      </p:sp>
      <p:sp>
        <p:nvSpPr>
          <p:cNvPr id="12" name="Text 8"/>
          <p:cNvSpPr/>
          <p:nvPr/>
        </p:nvSpPr>
        <p:spPr>
          <a:xfrm>
            <a:off x="822960" y="5184648"/>
            <a:ext cx="10607040" cy="923544"/>
          </a:xfrm>
          <a:prstGeom prst="rect">
            <a:avLst/>
          </a:prstGeom>
          <a:noFill/>
          <a:ln/>
        </p:spPr>
        <p:txBody>
          <a:bodyPr wrap="square" lIns="0" tIns="0" rIns="0" bIns="0" rtlCol="0" anchor="ctr"/>
          <a:lstStyle/>
          <a:p>
            <a:pPr indent="0" marL="0">
              <a:lnSpc>
                <a:spcPct val="105000"/>
              </a:lnSpc>
              <a:buNone/>
            </a:pPr>
            <a:r>
              <a:rPr lang="en-US" sz="1350" i="1" dirty="0">
                <a:solidFill>
                  <a:srgbClr val="1F2A37"/>
                </a:solidFill>
                <a:latin typeface="Calibri" pitchFamily="34" charset="0"/>
                <a:ea typeface="Calibri" pitchFamily="34" charset="-122"/>
                <a:cs typeface="Calibri" pitchFamily="34" charset="-120"/>
              </a:rPr>
              <a:t>Umbral clave para cereales: 10 g de azúcares añadidos por 100 g. Los cereales azucarados de NUTRI FOODS tienen entre 25 y 40 g — superan ampliamente el límite y reciben el sello.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57200"/>
            <a:ext cx="548640" cy="548640"/>
          </a:xfrm>
          <a:prstGeom prst="rect">
            <a:avLst/>
          </a:prstGeom>
        </p:spPr>
      </p:pic>
      <p:sp>
        <p:nvSpPr>
          <p:cNvPr id="3" name="Shape 0"/>
          <p:cNvSpPr/>
          <p:nvPr/>
        </p:nvSpPr>
        <p:spPr>
          <a:xfrm>
            <a:off x="566928" y="457200"/>
            <a:ext cx="548640" cy="548640"/>
          </a:xfrm>
          <a:prstGeom prst="ellipse">
            <a:avLst/>
          </a:prstGeom>
          <a:solidFill>
            <a:srgbClr val="1A9E8F"/>
          </a:solidFill>
          <a:ln/>
        </p:spPr>
      </p:sp>
      <p:pic>
        <p:nvPicPr>
          <p:cNvPr id="4" name="Image 1" descr="preencoded.png">    </p:cNvPr>
          <p:cNvPicPr>
            <a:picLocks noChangeAspect="1"/>
          </p:cNvPicPr>
          <p:nvPr/>
        </p:nvPicPr>
        <p:blipFill>
          <a:blip r:embed="rId2"/>
          <a:stretch>
            <a:fillRect/>
          </a:stretch>
        </p:blipFill>
        <p:spPr>
          <a:xfrm>
            <a:off x="685800" y="576072"/>
            <a:ext cx="310896" cy="310896"/>
          </a:xfrm>
          <a:prstGeom prst="rect">
            <a:avLst/>
          </a:prstGeom>
        </p:spPr>
      </p:pic>
      <p:sp>
        <p:nvSpPr>
          <p:cNvPr id="5" name="Text 1"/>
          <p:cNvSpPr/>
          <p:nvPr/>
        </p:nvSpPr>
        <p:spPr>
          <a:xfrm>
            <a:off x="1298448" y="420624"/>
            <a:ext cx="91440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Calibri" pitchFamily="34" charset="0"/>
                <a:ea typeface="Calibri" pitchFamily="34" charset="-122"/>
                <a:cs typeface="Calibri" pitchFamily="34" charset="-120"/>
              </a:rPr>
              <a:t>DATOS Y METODOLOGÍA</a:t>
            </a:r>
            <a:endParaRPr lang="en-US" sz="1100" dirty="0"/>
          </a:p>
        </p:txBody>
      </p:sp>
      <p:sp>
        <p:nvSpPr>
          <p:cNvPr id="6" name="Text 2"/>
          <p:cNvSpPr/>
          <p:nvPr/>
        </p:nvSpPr>
        <p:spPr>
          <a:xfrm>
            <a:off x="1298448" y="658368"/>
            <a:ext cx="10424160" cy="50292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Un cuasiexperimento dentro de la empresa</a:t>
            </a:r>
            <a:endParaRPr lang="en-US" sz="2600" dirty="0"/>
          </a:p>
        </p:txBody>
      </p:sp>
      <p:sp>
        <p:nvSpPr>
          <p:cNvPr id="7" name="Shape 3"/>
          <p:cNvSpPr/>
          <p:nvPr/>
        </p:nvSpPr>
        <p:spPr>
          <a:xfrm>
            <a:off x="566928" y="1554480"/>
            <a:ext cx="2670048" cy="1051560"/>
          </a:xfrm>
          <a:prstGeom prst="roundRect">
            <a:avLst>
              <a:gd name="adj" fmla="val 6087"/>
            </a:avLst>
          </a:prstGeom>
          <a:solidFill>
            <a:srgbClr val="F4F6F9"/>
          </a:solidFill>
          <a:ln/>
        </p:spPr>
      </p:sp>
      <p:sp>
        <p:nvSpPr>
          <p:cNvPr id="8" name="Text 4"/>
          <p:cNvSpPr/>
          <p:nvPr/>
        </p:nvSpPr>
        <p:spPr>
          <a:xfrm>
            <a:off x="749808" y="1682496"/>
            <a:ext cx="2304288" cy="502920"/>
          </a:xfrm>
          <a:prstGeom prst="rect">
            <a:avLst/>
          </a:prstGeom>
          <a:noFill/>
          <a:ln/>
        </p:spPr>
        <p:txBody>
          <a:bodyPr wrap="square" lIns="0" tIns="0" rIns="0" bIns="0" rtlCol="0" anchor="ctr"/>
          <a:lstStyle/>
          <a:p>
            <a:pPr indent="0" marL="0">
              <a:buNone/>
            </a:pPr>
            <a:r>
              <a:rPr lang="en-US" sz="2300" b="1" dirty="0">
                <a:solidFill>
                  <a:srgbClr val="16263F"/>
                </a:solidFill>
                <a:latin typeface="Cambria" pitchFamily="34" charset="0"/>
                <a:ea typeface="Cambria" pitchFamily="34" charset="-122"/>
                <a:cs typeface="Cambria" pitchFamily="34" charset="-120"/>
              </a:rPr>
              <a:t>54.769</a:t>
            </a:r>
            <a:endParaRPr lang="en-US" sz="2300" dirty="0"/>
          </a:p>
        </p:txBody>
      </p:sp>
      <p:sp>
        <p:nvSpPr>
          <p:cNvPr id="9" name="Text 5"/>
          <p:cNvSpPr/>
          <p:nvPr/>
        </p:nvSpPr>
        <p:spPr>
          <a:xfrm>
            <a:off x="749808" y="2194560"/>
            <a:ext cx="2304288"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transacciones</a:t>
            </a:r>
            <a:endParaRPr lang="en-US" sz="1150" dirty="0"/>
          </a:p>
        </p:txBody>
      </p:sp>
      <p:sp>
        <p:nvSpPr>
          <p:cNvPr id="10" name="Shape 6"/>
          <p:cNvSpPr/>
          <p:nvPr/>
        </p:nvSpPr>
        <p:spPr>
          <a:xfrm>
            <a:off x="3401568" y="1554480"/>
            <a:ext cx="2670048" cy="1051560"/>
          </a:xfrm>
          <a:prstGeom prst="roundRect">
            <a:avLst>
              <a:gd name="adj" fmla="val 6087"/>
            </a:avLst>
          </a:prstGeom>
          <a:solidFill>
            <a:srgbClr val="F4F6F9"/>
          </a:solidFill>
          <a:ln/>
        </p:spPr>
      </p:sp>
      <p:sp>
        <p:nvSpPr>
          <p:cNvPr id="11" name="Text 7"/>
          <p:cNvSpPr/>
          <p:nvPr/>
        </p:nvSpPr>
        <p:spPr>
          <a:xfrm>
            <a:off x="3584448" y="1682496"/>
            <a:ext cx="2304288" cy="502920"/>
          </a:xfrm>
          <a:prstGeom prst="rect">
            <a:avLst/>
          </a:prstGeom>
          <a:noFill/>
          <a:ln/>
        </p:spPr>
        <p:txBody>
          <a:bodyPr wrap="square" lIns="0" tIns="0" rIns="0" bIns="0" rtlCol="0" anchor="ctr"/>
          <a:lstStyle/>
          <a:p>
            <a:pPr indent="0" marL="0">
              <a:buNone/>
            </a:pPr>
            <a:r>
              <a:rPr lang="en-US" sz="2300" b="1" dirty="0">
                <a:solidFill>
                  <a:srgbClr val="16263F"/>
                </a:solidFill>
                <a:latin typeface="Cambria" pitchFamily="34" charset="0"/>
                <a:ea typeface="Cambria" pitchFamily="34" charset="-122"/>
                <a:cs typeface="Cambria" pitchFamily="34" charset="-120"/>
              </a:rPr>
              <a:t>36 meses</a:t>
            </a:r>
            <a:endParaRPr lang="en-US" sz="2300" dirty="0"/>
          </a:p>
        </p:txBody>
      </p:sp>
      <p:sp>
        <p:nvSpPr>
          <p:cNvPr id="12" name="Text 8"/>
          <p:cNvSpPr/>
          <p:nvPr/>
        </p:nvSpPr>
        <p:spPr>
          <a:xfrm>
            <a:off x="3584448" y="2194560"/>
            <a:ext cx="2304288"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ene 2022 – dic 2024</a:t>
            </a:r>
            <a:endParaRPr lang="en-US" sz="1150" dirty="0"/>
          </a:p>
        </p:txBody>
      </p:sp>
      <p:sp>
        <p:nvSpPr>
          <p:cNvPr id="13" name="Shape 9"/>
          <p:cNvSpPr/>
          <p:nvPr/>
        </p:nvSpPr>
        <p:spPr>
          <a:xfrm>
            <a:off x="6236208" y="1554480"/>
            <a:ext cx="2670048" cy="1051560"/>
          </a:xfrm>
          <a:prstGeom prst="roundRect">
            <a:avLst>
              <a:gd name="adj" fmla="val 6087"/>
            </a:avLst>
          </a:prstGeom>
          <a:solidFill>
            <a:srgbClr val="F4F6F9"/>
          </a:solidFill>
          <a:ln/>
        </p:spPr>
      </p:sp>
      <p:sp>
        <p:nvSpPr>
          <p:cNvPr id="14" name="Text 10"/>
          <p:cNvSpPr/>
          <p:nvPr/>
        </p:nvSpPr>
        <p:spPr>
          <a:xfrm>
            <a:off x="6419088" y="1682496"/>
            <a:ext cx="2304288" cy="502920"/>
          </a:xfrm>
          <a:prstGeom prst="rect">
            <a:avLst/>
          </a:prstGeom>
          <a:noFill/>
          <a:ln/>
        </p:spPr>
        <p:txBody>
          <a:bodyPr wrap="square" lIns="0" tIns="0" rIns="0" bIns="0" rtlCol="0" anchor="ctr"/>
          <a:lstStyle/>
          <a:p>
            <a:pPr indent="0" marL="0">
              <a:buNone/>
            </a:pPr>
            <a:r>
              <a:rPr lang="en-US" sz="2300" b="1" dirty="0">
                <a:solidFill>
                  <a:srgbClr val="16263F"/>
                </a:solidFill>
                <a:latin typeface="Cambria" pitchFamily="34" charset="0"/>
                <a:ea typeface="Cambria" pitchFamily="34" charset="-122"/>
                <a:cs typeface="Cambria" pitchFamily="34" charset="-120"/>
              </a:rPr>
              <a:t>6 vs 30</a:t>
            </a:r>
            <a:endParaRPr lang="en-US" sz="2300" dirty="0"/>
          </a:p>
        </p:txBody>
      </p:sp>
      <p:sp>
        <p:nvSpPr>
          <p:cNvPr id="15" name="Text 11"/>
          <p:cNvSpPr/>
          <p:nvPr/>
        </p:nvSpPr>
        <p:spPr>
          <a:xfrm>
            <a:off x="6419088" y="2194560"/>
            <a:ext cx="2304288"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meses pre / post ley</a:t>
            </a:r>
            <a:endParaRPr lang="en-US" sz="1150" dirty="0"/>
          </a:p>
        </p:txBody>
      </p:sp>
      <p:sp>
        <p:nvSpPr>
          <p:cNvPr id="16" name="Shape 12"/>
          <p:cNvSpPr/>
          <p:nvPr/>
        </p:nvSpPr>
        <p:spPr>
          <a:xfrm>
            <a:off x="9070848" y="1554480"/>
            <a:ext cx="2670048" cy="1051560"/>
          </a:xfrm>
          <a:prstGeom prst="roundRect">
            <a:avLst>
              <a:gd name="adj" fmla="val 6087"/>
            </a:avLst>
          </a:prstGeom>
          <a:solidFill>
            <a:srgbClr val="F4F6F9"/>
          </a:solidFill>
          <a:ln/>
        </p:spPr>
      </p:sp>
      <p:sp>
        <p:nvSpPr>
          <p:cNvPr id="17" name="Text 13"/>
          <p:cNvSpPr/>
          <p:nvPr/>
        </p:nvSpPr>
        <p:spPr>
          <a:xfrm>
            <a:off x="9253728" y="1682496"/>
            <a:ext cx="2304288" cy="502920"/>
          </a:xfrm>
          <a:prstGeom prst="rect">
            <a:avLst/>
          </a:prstGeom>
          <a:noFill/>
          <a:ln/>
        </p:spPr>
        <p:txBody>
          <a:bodyPr wrap="square" lIns="0" tIns="0" rIns="0" bIns="0" rtlCol="0" anchor="ctr"/>
          <a:lstStyle/>
          <a:p>
            <a:pPr indent="0" marL="0">
              <a:buNone/>
            </a:pPr>
            <a:r>
              <a:rPr lang="en-US" sz="2300" b="1" dirty="0">
                <a:solidFill>
                  <a:srgbClr val="16263F"/>
                </a:solidFill>
                <a:latin typeface="Cambria" pitchFamily="34" charset="0"/>
                <a:ea typeface="Cambria" pitchFamily="34" charset="-122"/>
                <a:cs typeface="Cambria" pitchFamily="34" charset="-120"/>
              </a:rPr>
              <a:t>0</a:t>
            </a:r>
            <a:endParaRPr lang="en-US" sz="2300" dirty="0"/>
          </a:p>
        </p:txBody>
      </p:sp>
      <p:sp>
        <p:nvSpPr>
          <p:cNvPr id="18" name="Text 14"/>
          <p:cNvSpPr/>
          <p:nvPr/>
        </p:nvSpPr>
        <p:spPr>
          <a:xfrm>
            <a:off x="9253728" y="2194560"/>
            <a:ext cx="2304288" cy="320040"/>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productos sin clasificar</a:t>
            </a:r>
            <a:endParaRPr lang="en-US" sz="1150" dirty="0"/>
          </a:p>
        </p:txBody>
      </p:sp>
      <p:sp>
        <p:nvSpPr>
          <p:cNvPr id="19" name="Shape 15"/>
          <p:cNvSpPr/>
          <p:nvPr/>
        </p:nvSpPr>
        <p:spPr>
          <a:xfrm>
            <a:off x="566928" y="2880360"/>
            <a:ext cx="3538728" cy="3246120"/>
          </a:xfrm>
          <a:prstGeom prst="roundRect">
            <a:avLst>
              <a:gd name="adj" fmla="val 1972"/>
            </a:avLst>
          </a:prstGeom>
          <a:solidFill>
            <a:srgbClr val="FFFFFF"/>
          </a:solidFill>
          <a:ln w="12700">
            <a:solidFill>
              <a:srgbClr val="E2E7EE"/>
            </a:solidFill>
            <a:prstDash val="solid"/>
          </a:ln>
          <a:effectLst>
            <a:outerShdw sx="100000" sy="100000" kx="0" ky="0" algn="bl" rotWithShape="0" blurRad="88900" dist="38100" dir="5400000">
              <a:srgbClr val="000000">
                <a:alpha val="16000"/>
              </a:srgbClr>
            </a:outerShdw>
          </a:effectLst>
        </p:spPr>
      </p:sp>
      <p:sp>
        <p:nvSpPr>
          <p:cNvPr id="20" name="Shape 16"/>
          <p:cNvSpPr/>
          <p:nvPr/>
        </p:nvSpPr>
        <p:spPr>
          <a:xfrm>
            <a:off x="859536" y="3172968"/>
            <a:ext cx="566928" cy="566928"/>
          </a:xfrm>
          <a:prstGeom prst="ellipse">
            <a:avLst/>
          </a:prstGeom>
          <a:solidFill>
            <a:srgbClr val="D64545"/>
          </a:solidFill>
          <a:ln/>
        </p:spPr>
      </p:sp>
      <p:pic>
        <p:nvPicPr>
          <p:cNvPr id="21" name="Image 2" descr="preencoded.png">    </p:cNvPr>
          <p:cNvPicPr>
            <a:picLocks noChangeAspect="1"/>
          </p:cNvPicPr>
          <p:nvPr/>
        </p:nvPicPr>
        <p:blipFill>
          <a:blip r:embed="rId3"/>
          <a:stretch>
            <a:fillRect/>
          </a:stretch>
        </p:blipFill>
        <p:spPr>
          <a:xfrm>
            <a:off x="996696" y="3310128"/>
            <a:ext cx="292608" cy="292608"/>
          </a:xfrm>
          <a:prstGeom prst="rect">
            <a:avLst/>
          </a:prstGeom>
        </p:spPr>
      </p:pic>
      <p:sp>
        <p:nvSpPr>
          <p:cNvPr id="22" name="Text 17"/>
          <p:cNvSpPr/>
          <p:nvPr/>
        </p:nvSpPr>
        <p:spPr>
          <a:xfrm>
            <a:off x="859536" y="3904488"/>
            <a:ext cx="2953512" cy="594360"/>
          </a:xfrm>
          <a:prstGeom prst="rect">
            <a:avLst/>
          </a:prstGeom>
          <a:noFill/>
          <a:ln/>
        </p:spPr>
        <p:txBody>
          <a:bodyPr wrap="square" lIns="0" tIns="0" rIns="0" bIns="0" rtlCol="0" anchor="t"/>
          <a:lstStyle/>
          <a:p>
            <a:pPr indent="0" marL="0">
              <a:buNone/>
            </a:pPr>
            <a:r>
              <a:rPr lang="en-US" sz="1650" b="1" dirty="0">
                <a:solidFill>
                  <a:srgbClr val="1F2A37"/>
                </a:solidFill>
                <a:latin typeface="Cambria" pitchFamily="34" charset="0"/>
                <a:ea typeface="Cambria" pitchFamily="34" charset="-122"/>
                <a:cs typeface="Cambria" pitchFamily="34" charset="-120"/>
              </a:rPr>
              <a:t>T1 · Variable de tratamiento</a:t>
            </a:r>
            <a:endParaRPr lang="en-US" sz="1650" dirty="0"/>
          </a:p>
        </p:txBody>
      </p:sp>
      <p:sp>
        <p:nvSpPr>
          <p:cNvPr id="23" name="Text 18"/>
          <p:cNvSpPr/>
          <p:nvPr/>
        </p:nvSpPr>
        <p:spPr>
          <a:xfrm>
            <a:off x="859536" y="4572000"/>
            <a:ext cx="2953512" cy="1325880"/>
          </a:xfrm>
          <a:prstGeom prst="rect">
            <a:avLst/>
          </a:prstGeom>
          <a:noFill/>
          <a:ln/>
        </p:spPr>
        <p:txBody>
          <a:bodyPr wrap="square" lIns="0" tIns="0" rIns="0" bIns="0" rtlCol="0" anchor="t"/>
          <a:lstStyle/>
          <a:p>
            <a:pPr indent="0" marL="0">
              <a:lnSpc>
                <a:spcPct val="105000"/>
              </a:lnSpc>
              <a:buNone/>
            </a:pPr>
            <a:r>
              <a:rPr lang="en-US" sz="1250" dirty="0">
                <a:solidFill>
                  <a:srgbClr val="44505E"/>
                </a:solidFill>
                <a:latin typeface="Calibri" pitchFamily="34" charset="0"/>
                <a:ea typeface="Calibri" pitchFamily="34" charset="-122"/>
                <a:cs typeface="Calibri" pitchFamily="34" charset="-120"/>
              </a:rPr>
              <a:t>Se clasifica cada producto en CON / SIN octógono según el Decreto 151/2022. Maní y turrón entran como CON por exceso de grasas y calorías. Ninguno queda sin clasificar.</a:t>
            </a:r>
            <a:endParaRPr lang="en-US" sz="1250" dirty="0"/>
          </a:p>
        </p:txBody>
      </p:sp>
      <p:sp>
        <p:nvSpPr>
          <p:cNvPr id="24" name="Shape 19"/>
          <p:cNvSpPr/>
          <p:nvPr/>
        </p:nvSpPr>
        <p:spPr>
          <a:xfrm>
            <a:off x="4325112" y="2880360"/>
            <a:ext cx="3538728" cy="3246120"/>
          </a:xfrm>
          <a:prstGeom prst="roundRect">
            <a:avLst>
              <a:gd name="adj" fmla="val 1972"/>
            </a:avLst>
          </a:prstGeom>
          <a:solidFill>
            <a:srgbClr val="FFFFFF"/>
          </a:solidFill>
          <a:ln w="12700">
            <a:solidFill>
              <a:srgbClr val="E2E7EE"/>
            </a:solidFill>
            <a:prstDash val="solid"/>
          </a:ln>
          <a:effectLst>
            <a:outerShdw sx="100000" sy="100000" kx="0" ky="0" algn="bl" rotWithShape="0" blurRad="88900" dist="38100" dir="5400000">
              <a:srgbClr val="000000">
                <a:alpha val="16000"/>
              </a:srgbClr>
            </a:outerShdw>
          </a:effectLst>
        </p:spPr>
      </p:sp>
      <p:sp>
        <p:nvSpPr>
          <p:cNvPr id="25" name="Shape 20"/>
          <p:cNvSpPr/>
          <p:nvPr/>
        </p:nvSpPr>
        <p:spPr>
          <a:xfrm>
            <a:off x="4617720" y="3172968"/>
            <a:ext cx="566928" cy="566928"/>
          </a:xfrm>
          <a:prstGeom prst="ellipse">
            <a:avLst/>
          </a:prstGeom>
          <a:solidFill>
            <a:srgbClr val="1A9E8F"/>
          </a:solidFill>
          <a:ln/>
        </p:spPr>
      </p:sp>
      <p:pic>
        <p:nvPicPr>
          <p:cNvPr id="26" name="Image 3" descr="preencoded.png">    </p:cNvPr>
          <p:cNvPicPr>
            <a:picLocks noChangeAspect="1"/>
          </p:cNvPicPr>
          <p:nvPr/>
        </p:nvPicPr>
        <p:blipFill>
          <a:blip r:embed="rId4"/>
          <a:stretch>
            <a:fillRect/>
          </a:stretch>
        </p:blipFill>
        <p:spPr>
          <a:xfrm>
            <a:off x="4754880" y="3310128"/>
            <a:ext cx="292608" cy="292608"/>
          </a:xfrm>
          <a:prstGeom prst="rect">
            <a:avLst/>
          </a:prstGeom>
        </p:spPr>
      </p:pic>
      <p:sp>
        <p:nvSpPr>
          <p:cNvPr id="27" name="Text 21"/>
          <p:cNvSpPr/>
          <p:nvPr/>
        </p:nvSpPr>
        <p:spPr>
          <a:xfrm>
            <a:off x="4617720" y="3904488"/>
            <a:ext cx="2953512" cy="594360"/>
          </a:xfrm>
          <a:prstGeom prst="rect">
            <a:avLst/>
          </a:prstGeom>
          <a:noFill/>
          <a:ln/>
        </p:spPr>
        <p:txBody>
          <a:bodyPr wrap="square" lIns="0" tIns="0" rIns="0" bIns="0" rtlCol="0" anchor="t"/>
          <a:lstStyle/>
          <a:p>
            <a:pPr indent="0" marL="0">
              <a:buNone/>
            </a:pPr>
            <a:r>
              <a:rPr lang="en-US" sz="1650" b="1" dirty="0">
                <a:solidFill>
                  <a:srgbClr val="1F2A37"/>
                </a:solidFill>
                <a:latin typeface="Cambria" pitchFamily="34" charset="0"/>
                <a:ea typeface="Cambria" pitchFamily="34" charset="-122"/>
                <a:cs typeface="Cambria" pitchFamily="34" charset="-120"/>
              </a:rPr>
              <a:t>T2 · Normalización mensual</a:t>
            </a:r>
            <a:endParaRPr lang="en-US" sz="1650" dirty="0"/>
          </a:p>
        </p:txBody>
      </p:sp>
      <p:sp>
        <p:nvSpPr>
          <p:cNvPr id="28" name="Text 22"/>
          <p:cNvSpPr/>
          <p:nvPr/>
        </p:nvSpPr>
        <p:spPr>
          <a:xfrm>
            <a:off x="4617720" y="4572000"/>
            <a:ext cx="2953512" cy="1325880"/>
          </a:xfrm>
          <a:prstGeom prst="rect">
            <a:avLst/>
          </a:prstGeom>
          <a:noFill/>
          <a:ln/>
        </p:spPr>
        <p:txBody>
          <a:bodyPr wrap="square" lIns="0" tIns="0" rIns="0" bIns="0" rtlCol="0" anchor="t"/>
          <a:lstStyle/>
          <a:p>
            <a:pPr indent="0" marL="0">
              <a:lnSpc>
                <a:spcPct val="105000"/>
              </a:lnSpc>
              <a:buNone/>
            </a:pPr>
            <a:r>
              <a:rPr lang="en-US" sz="1250" dirty="0">
                <a:solidFill>
                  <a:srgbClr val="44505E"/>
                </a:solidFill>
                <a:latin typeface="Calibri" pitchFamily="34" charset="0"/>
                <a:ea typeface="Calibri" pitchFamily="34" charset="-122"/>
                <a:cs typeface="Calibri" pitchFamily="34" charset="-120"/>
              </a:rPr>
              <a:t>Pre-ley tiene 6 meses y post-ley 30. Todas las comparaciones se hacen sobre promedios mensuales para no sesgar a favor del período más largo.</a:t>
            </a:r>
            <a:endParaRPr lang="en-US" sz="1250" dirty="0"/>
          </a:p>
        </p:txBody>
      </p:sp>
      <p:sp>
        <p:nvSpPr>
          <p:cNvPr id="29" name="Shape 23"/>
          <p:cNvSpPr/>
          <p:nvPr/>
        </p:nvSpPr>
        <p:spPr>
          <a:xfrm>
            <a:off x="8083296" y="2880360"/>
            <a:ext cx="3538728" cy="3246120"/>
          </a:xfrm>
          <a:prstGeom prst="roundRect">
            <a:avLst>
              <a:gd name="adj" fmla="val 1972"/>
            </a:avLst>
          </a:prstGeom>
          <a:solidFill>
            <a:srgbClr val="FFFFFF"/>
          </a:solidFill>
          <a:ln w="12700">
            <a:solidFill>
              <a:srgbClr val="E2E7EE"/>
            </a:solidFill>
            <a:prstDash val="solid"/>
          </a:ln>
          <a:effectLst>
            <a:outerShdw sx="100000" sy="100000" kx="0" ky="0" algn="bl" rotWithShape="0" blurRad="88900" dist="38100" dir="5400000">
              <a:srgbClr val="000000">
                <a:alpha val="16000"/>
              </a:srgbClr>
            </a:outerShdw>
          </a:effectLst>
        </p:spPr>
      </p:sp>
      <p:sp>
        <p:nvSpPr>
          <p:cNvPr id="30" name="Shape 24"/>
          <p:cNvSpPr/>
          <p:nvPr/>
        </p:nvSpPr>
        <p:spPr>
          <a:xfrm>
            <a:off x="8375904" y="3172968"/>
            <a:ext cx="566928" cy="566928"/>
          </a:xfrm>
          <a:prstGeom prst="ellipse">
            <a:avLst/>
          </a:prstGeom>
          <a:solidFill>
            <a:srgbClr val="E0A100"/>
          </a:solidFill>
          <a:ln/>
        </p:spPr>
      </p:sp>
      <p:pic>
        <p:nvPicPr>
          <p:cNvPr id="31" name="Image 4" descr="preencoded.png">    </p:cNvPr>
          <p:cNvPicPr>
            <a:picLocks noChangeAspect="1"/>
          </p:cNvPicPr>
          <p:nvPr/>
        </p:nvPicPr>
        <p:blipFill>
          <a:blip r:embed="rId5"/>
          <a:stretch>
            <a:fillRect/>
          </a:stretch>
        </p:blipFill>
        <p:spPr>
          <a:xfrm>
            <a:off x="8513064" y="3310128"/>
            <a:ext cx="292608" cy="292608"/>
          </a:xfrm>
          <a:prstGeom prst="rect">
            <a:avLst/>
          </a:prstGeom>
        </p:spPr>
      </p:pic>
      <p:sp>
        <p:nvSpPr>
          <p:cNvPr id="32" name="Text 25"/>
          <p:cNvSpPr/>
          <p:nvPr/>
        </p:nvSpPr>
        <p:spPr>
          <a:xfrm>
            <a:off x="8375904" y="3904488"/>
            <a:ext cx="2953512" cy="594360"/>
          </a:xfrm>
          <a:prstGeom prst="rect">
            <a:avLst/>
          </a:prstGeom>
          <a:noFill/>
          <a:ln/>
        </p:spPr>
        <p:txBody>
          <a:bodyPr wrap="square" lIns="0" tIns="0" rIns="0" bIns="0" rtlCol="0" anchor="t"/>
          <a:lstStyle/>
          <a:p>
            <a:pPr indent="0" marL="0">
              <a:buNone/>
            </a:pPr>
            <a:r>
              <a:rPr lang="en-US" sz="1650" b="1" dirty="0">
                <a:solidFill>
                  <a:srgbClr val="1F2A37"/>
                </a:solidFill>
                <a:latin typeface="Cambria" pitchFamily="34" charset="0"/>
                <a:ea typeface="Cambria" pitchFamily="34" charset="-122"/>
                <a:cs typeface="Cambria" pitchFamily="34" charset="-120"/>
              </a:rPr>
              <a:t>T3 · Deflación FACPCE</a:t>
            </a:r>
            <a:endParaRPr lang="en-US" sz="1650" dirty="0"/>
          </a:p>
        </p:txBody>
      </p:sp>
      <p:sp>
        <p:nvSpPr>
          <p:cNvPr id="33" name="Text 26"/>
          <p:cNvSpPr/>
          <p:nvPr/>
        </p:nvSpPr>
        <p:spPr>
          <a:xfrm>
            <a:off x="8375904" y="4572000"/>
            <a:ext cx="2953512" cy="1325880"/>
          </a:xfrm>
          <a:prstGeom prst="rect">
            <a:avLst/>
          </a:prstGeom>
          <a:noFill/>
          <a:ln/>
        </p:spPr>
        <p:txBody>
          <a:bodyPr wrap="square" lIns="0" tIns="0" rIns="0" bIns="0" rtlCol="0" anchor="t"/>
          <a:lstStyle/>
          <a:p>
            <a:pPr indent="0" marL="0">
              <a:lnSpc>
                <a:spcPct val="105000"/>
              </a:lnSpc>
              <a:buNone/>
            </a:pPr>
            <a:r>
              <a:rPr lang="en-US" sz="1250" dirty="0">
                <a:solidFill>
                  <a:srgbClr val="44505E"/>
                </a:solidFill>
                <a:latin typeface="Calibri" pitchFamily="34" charset="0"/>
                <a:ea typeface="Calibri" pitchFamily="34" charset="-122"/>
                <a:cs typeface="Calibri" pitchFamily="34" charset="-120"/>
              </a:rPr>
              <a:t>Los precios nominales se llevan a moneda constante de dic-2024 (coef. ene-2022 = ×12,71). Sin deflactar, la lectura de precios sería errónea.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57200"/>
            <a:ext cx="548640" cy="548640"/>
          </a:xfrm>
          <a:prstGeom prst="rect">
            <a:avLst/>
          </a:prstGeom>
        </p:spPr>
      </p:pic>
      <p:sp>
        <p:nvSpPr>
          <p:cNvPr id="3" name="Shape 0"/>
          <p:cNvSpPr/>
          <p:nvPr/>
        </p:nvSpPr>
        <p:spPr>
          <a:xfrm>
            <a:off x="566928" y="457200"/>
            <a:ext cx="548640" cy="548640"/>
          </a:xfrm>
          <a:prstGeom prst="ellipse">
            <a:avLst/>
          </a:prstGeom>
          <a:solidFill>
            <a:srgbClr val="D64545"/>
          </a:solidFill>
          <a:ln/>
        </p:spPr>
      </p:sp>
      <p:pic>
        <p:nvPicPr>
          <p:cNvPr id="4" name="Image 1" descr="preencoded.png">    </p:cNvPr>
          <p:cNvPicPr>
            <a:picLocks noChangeAspect="1"/>
          </p:cNvPicPr>
          <p:nvPr/>
        </p:nvPicPr>
        <p:blipFill>
          <a:blip r:embed="rId2"/>
          <a:stretch>
            <a:fillRect/>
          </a:stretch>
        </p:blipFill>
        <p:spPr>
          <a:xfrm>
            <a:off x="685800" y="576072"/>
            <a:ext cx="310896" cy="310896"/>
          </a:xfrm>
          <a:prstGeom prst="rect">
            <a:avLst/>
          </a:prstGeom>
        </p:spPr>
      </p:pic>
      <p:sp>
        <p:nvSpPr>
          <p:cNvPr id="5" name="Text 1"/>
          <p:cNvSpPr/>
          <p:nvPr/>
        </p:nvSpPr>
        <p:spPr>
          <a:xfrm>
            <a:off x="1298448" y="420624"/>
            <a:ext cx="9144000" cy="274320"/>
          </a:xfrm>
          <a:prstGeom prst="rect">
            <a:avLst/>
          </a:prstGeom>
          <a:noFill/>
          <a:ln/>
        </p:spPr>
        <p:txBody>
          <a:bodyPr wrap="square" lIns="0" tIns="0" rIns="0" bIns="0" rtlCol="0" anchor="ctr"/>
          <a:lstStyle/>
          <a:p>
            <a:pPr indent="0" marL="0">
              <a:buNone/>
            </a:pPr>
            <a:r>
              <a:rPr lang="en-US" sz="1100" b="1" spc="200" kern="0" dirty="0">
                <a:solidFill>
                  <a:srgbClr val="D64545"/>
                </a:solidFill>
                <a:latin typeface="Calibri" pitchFamily="34" charset="0"/>
                <a:ea typeface="Calibri" pitchFamily="34" charset="-122"/>
                <a:cs typeface="Calibri" pitchFamily="34" charset="-120"/>
              </a:rPr>
              <a:t>RESULTADOS · EVOLUCIÓN TEMPORAL</a:t>
            </a:r>
            <a:endParaRPr lang="en-US" sz="1100" dirty="0"/>
          </a:p>
        </p:txBody>
      </p:sp>
      <p:sp>
        <p:nvSpPr>
          <p:cNvPr id="6" name="Text 2"/>
          <p:cNvSpPr/>
          <p:nvPr/>
        </p:nvSpPr>
        <p:spPr>
          <a:xfrm>
            <a:off x="1298448" y="658368"/>
            <a:ext cx="10424160" cy="50292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Dos trayectorias que se separan</a:t>
            </a:r>
            <a:endParaRPr lang="en-US" sz="2600" dirty="0"/>
          </a:p>
        </p:txBody>
      </p:sp>
      <p:pic>
        <p:nvPicPr>
          <p:cNvPr id="7" name="Image 2" descr="figs/img-000.png">    </p:cNvPr>
          <p:cNvPicPr>
            <a:picLocks noChangeAspect="1"/>
          </p:cNvPicPr>
          <p:nvPr/>
        </p:nvPicPr>
        <p:blipFill>
          <a:blip r:embed="rId3"/>
          <a:stretch>
            <a:fillRect/>
          </a:stretch>
        </p:blipFill>
        <p:spPr>
          <a:xfrm>
            <a:off x="928116" y="1508760"/>
            <a:ext cx="10332720" cy="3686591"/>
          </a:xfrm>
          <a:prstGeom prst="rect">
            <a:avLst/>
          </a:prstGeom>
        </p:spPr>
      </p:pic>
      <p:sp>
        <p:nvSpPr>
          <p:cNvPr id="8" name="Shape 3"/>
          <p:cNvSpPr/>
          <p:nvPr/>
        </p:nvSpPr>
        <p:spPr>
          <a:xfrm>
            <a:off x="566928" y="5440680"/>
            <a:ext cx="11064240" cy="914400"/>
          </a:xfrm>
          <a:prstGeom prst="roundRect">
            <a:avLst>
              <a:gd name="adj" fmla="val 6000"/>
            </a:avLst>
          </a:prstGeom>
          <a:solidFill>
            <a:srgbClr val="FFF7E6"/>
          </a:solidFill>
          <a:ln/>
          <a:effectLst>
            <a:outerShdw sx="100000" sy="100000" kx="0" ky="0" algn="bl" rotWithShape="0" blurRad="88900" dist="38100" dir="5400000">
              <a:srgbClr val="000000">
                <a:alpha val="16000"/>
              </a:srgbClr>
            </a:outerShdw>
          </a:effectLst>
        </p:spPr>
      </p:sp>
      <p:sp>
        <p:nvSpPr>
          <p:cNvPr id="9" name="Text 4"/>
          <p:cNvSpPr/>
          <p:nvPr/>
        </p:nvSpPr>
        <p:spPr>
          <a:xfrm>
            <a:off x="822960" y="5550408"/>
            <a:ext cx="10607040" cy="694944"/>
          </a:xfrm>
          <a:prstGeom prst="rect">
            <a:avLst/>
          </a:prstGeom>
          <a:noFill/>
          <a:ln/>
        </p:spPr>
        <p:txBody>
          <a:bodyPr wrap="square" lIns="0" tIns="0" rIns="0" bIns="0" rtlCol="0" anchor="ctr"/>
          <a:lstStyle/>
          <a:p>
            <a:pPr indent="0" marL="0">
              <a:lnSpc>
                <a:spcPct val="105000"/>
              </a:lnSpc>
              <a:buNone/>
            </a:pPr>
            <a:r>
              <a:rPr lang="en-US" sz="1350" i="1" dirty="0">
                <a:solidFill>
                  <a:srgbClr val="1F2A37"/>
                </a:solidFill>
                <a:latin typeface="Calibri" pitchFamily="34" charset="0"/>
                <a:ea typeface="Calibri" pitchFamily="34" charset="-122"/>
                <a:cs typeface="Calibri" pitchFamily="34" charset="-120"/>
              </a:rPr>
              <a:t>Mismos canales, misma inflación, misma fuerza de ventas. Que CON octógono (rojo) caiga y SIN octógono (verde) se mantenga es el primer indicio de que actúa algo distinto a la inflación.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57200"/>
            <a:ext cx="548640" cy="548640"/>
          </a:xfrm>
          <a:prstGeom prst="rect">
            <a:avLst/>
          </a:prstGeom>
        </p:spPr>
      </p:pic>
      <p:sp>
        <p:nvSpPr>
          <p:cNvPr id="3" name="Shape 0"/>
          <p:cNvSpPr/>
          <p:nvPr/>
        </p:nvSpPr>
        <p:spPr>
          <a:xfrm>
            <a:off x="566928" y="457200"/>
            <a:ext cx="548640" cy="548640"/>
          </a:xfrm>
          <a:prstGeom prst="ellipse">
            <a:avLst/>
          </a:prstGeom>
          <a:solidFill>
            <a:srgbClr val="1A9E8F"/>
          </a:solidFill>
          <a:ln/>
        </p:spPr>
      </p:sp>
      <p:pic>
        <p:nvPicPr>
          <p:cNvPr id="4" name="Image 1" descr="preencoded.png">    </p:cNvPr>
          <p:cNvPicPr>
            <a:picLocks noChangeAspect="1"/>
          </p:cNvPicPr>
          <p:nvPr/>
        </p:nvPicPr>
        <p:blipFill>
          <a:blip r:embed="rId2"/>
          <a:stretch>
            <a:fillRect/>
          </a:stretch>
        </p:blipFill>
        <p:spPr>
          <a:xfrm>
            <a:off x="685800" y="576072"/>
            <a:ext cx="310896" cy="310896"/>
          </a:xfrm>
          <a:prstGeom prst="rect">
            <a:avLst/>
          </a:prstGeom>
        </p:spPr>
      </p:pic>
      <p:sp>
        <p:nvSpPr>
          <p:cNvPr id="5" name="Text 1"/>
          <p:cNvSpPr/>
          <p:nvPr/>
        </p:nvSpPr>
        <p:spPr>
          <a:xfrm>
            <a:off x="1298448" y="420624"/>
            <a:ext cx="91440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Calibri" pitchFamily="34" charset="0"/>
                <a:ea typeface="Calibri" pitchFamily="34" charset="-122"/>
                <a:cs typeface="Calibri" pitchFamily="34" charset="-120"/>
              </a:rPr>
              <a:t>RESULTADOS · IMPACTO NETO</a:t>
            </a:r>
            <a:endParaRPr lang="en-US" sz="1100" dirty="0"/>
          </a:p>
        </p:txBody>
      </p:sp>
      <p:sp>
        <p:nvSpPr>
          <p:cNvPr id="6" name="Text 2"/>
          <p:cNvSpPr/>
          <p:nvPr/>
        </p:nvSpPr>
        <p:spPr>
          <a:xfrm>
            <a:off x="1298448" y="658368"/>
            <a:ext cx="10424160" cy="50292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Promedio mensual: antes vs después</a:t>
            </a:r>
            <a:endParaRPr lang="en-US" sz="2600" dirty="0"/>
          </a:p>
        </p:txBody>
      </p:sp>
      <p:graphicFrame>
        <p:nvGraphicFramePr>
          <p:cNvPr id="7" name="Chart 0" descr=""/>
          <p:cNvGraphicFramePr/>
          <p:nvPr/>
        </p:nvGraphicFramePr>
        <p:xfrm>
          <a:off x="566928" y="1600200"/>
          <a:ext cx="6858000" cy="4160520"/>
        </p:xfrm>
        <a:graphic xmlns:a="http://schemas.openxmlformats.org/drawingml/2006/main">
          <a:graphicData uri="http://schemas.openxmlformats.org/drawingml/2006/chart">
            <c:chart xmlns:c="http://schemas.openxmlformats.org/drawingml/2006/chart" r:id="rId3"/>
          </a:graphicData>
        </a:graphic>
      </p:graphicFrame>
      <p:sp>
        <p:nvSpPr>
          <p:cNvPr id="8" name="Shape 3"/>
          <p:cNvSpPr/>
          <p:nvPr/>
        </p:nvSpPr>
        <p:spPr>
          <a:xfrm>
            <a:off x="7772400" y="1645920"/>
            <a:ext cx="3840480" cy="1783080"/>
          </a:xfrm>
          <a:prstGeom prst="roundRect">
            <a:avLst>
              <a:gd name="adj" fmla="val 4103"/>
            </a:avLst>
          </a:prstGeom>
          <a:solidFill>
            <a:srgbClr val="FBEDED"/>
          </a:solidFill>
          <a:ln/>
          <a:effectLst>
            <a:outerShdw sx="100000" sy="100000" kx="0" ky="0" algn="bl" rotWithShape="0" blurRad="88900" dist="38100" dir="5400000">
              <a:srgbClr val="000000">
                <a:alpha val="16000"/>
              </a:srgbClr>
            </a:outerShdw>
          </a:effectLst>
        </p:spPr>
      </p:sp>
      <p:sp>
        <p:nvSpPr>
          <p:cNvPr id="9" name="Text 4"/>
          <p:cNvSpPr/>
          <p:nvPr/>
        </p:nvSpPr>
        <p:spPr>
          <a:xfrm>
            <a:off x="8046720" y="1783080"/>
            <a:ext cx="3291840" cy="868680"/>
          </a:xfrm>
          <a:prstGeom prst="rect">
            <a:avLst/>
          </a:prstGeom>
          <a:noFill/>
          <a:ln/>
        </p:spPr>
        <p:txBody>
          <a:bodyPr wrap="square" lIns="0" tIns="0" rIns="0" bIns="0" rtlCol="0" anchor="ctr"/>
          <a:lstStyle/>
          <a:p>
            <a:pPr indent="0" marL="0">
              <a:buNone/>
            </a:pPr>
            <a:r>
              <a:rPr lang="en-US" sz="4600" b="1" dirty="0">
                <a:solidFill>
                  <a:srgbClr val="D64545"/>
                </a:solidFill>
                <a:latin typeface="Cambria" pitchFamily="34" charset="0"/>
                <a:ea typeface="Cambria" pitchFamily="34" charset="-122"/>
                <a:cs typeface="Cambria" pitchFamily="34" charset="-120"/>
              </a:rPr>
              <a:t>−18,3%</a:t>
            </a:r>
            <a:endParaRPr lang="en-US" sz="4600" dirty="0"/>
          </a:p>
        </p:txBody>
      </p:sp>
      <p:sp>
        <p:nvSpPr>
          <p:cNvPr id="10" name="Text 5"/>
          <p:cNvSpPr/>
          <p:nvPr/>
        </p:nvSpPr>
        <p:spPr>
          <a:xfrm>
            <a:off x="8046720" y="2651760"/>
            <a:ext cx="3291840" cy="640080"/>
          </a:xfrm>
          <a:prstGeom prst="rect">
            <a:avLst/>
          </a:prstGeom>
          <a:noFill/>
          <a:ln/>
        </p:spPr>
        <p:txBody>
          <a:bodyPr wrap="square" lIns="0" tIns="0" rIns="0" bIns="0" rtlCol="0" anchor="t"/>
          <a:lstStyle/>
          <a:p>
            <a:pPr indent="0" marL="0">
              <a:buNone/>
            </a:pPr>
            <a:r>
              <a:rPr lang="en-US" sz="1200" dirty="0">
                <a:solidFill>
                  <a:srgbClr val="7A3A3A"/>
                </a:solidFill>
                <a:latin typeface="Calibri" pitchFamily="34" charset="0"/>
                <a:ea typeface="Calibri" pitchFamily="34" charset="-122"/>
                <a:cs typeface="Calibri" pitchFamily="34" charset="-120"/>
              </a:rPr>
              <a:t>volumen mensual CON octógono (900.197 → 735.604 u.)</a:t>
            </a:r>
            <a:endParaRPr lang="en-US" sz="1200" dirty="0"/>
          </a:p>
        </p:txBody>
      </p:sp>
      <p:sp>
        <p:nvSpPr>
          <p:cNvPr id="11" name="Shape 6"/>
          <p:cNvSpPr/>
          <p:nvPr/>
        </p:nvSpPr>
        <p:spPr>
          <a:xfrm>
            <a:off x="7772400" y="3611880"/>
            <a:ext cx="3840480" cy="1783080"/>
          </a:xfrm>
          <a:prstGeom prst="roundRect">
            <a:avLst>
              <a:gd name="adj" fmla="val 4103"/>
            </a:avLst>
          </a:prstGeom>
          <a:solidFill>
            <a:srgbClr val="E8F6F3"/>
          </a:solidFill>
          <a:ln/>
          <a:effectLst>
            <a:outerShdw sx="100000" sy="100000" kx="0" ky="0" algn="bl" rotWithShape="0" blurRad="88900" dist="38100" dir="5400000">
              <a:srgbClr val="000000">
                <a:alpha val="16000"/>
              </a:srgbClr>
            </a:outerShdw>
          </a:effectLst>
        </p:spPr>
      </p:sp>
      <p:sp>
        <p:nvSpPr>
          <p:cNvPr id="12" name="Text 7"/>
          <p:cNvSpPr/>
          <p:nvPr/>
        </p:nvSpPr>
        <p:spPr>
          <a:xfrm>
            <a:off x="8046720" y="3749040"/>
            <a:ext cx="3291840" cy="868680"/>
          </a:xfrm>
          <a:prstGeom prst="rect">
            <a:avLst/>
          </a:prstGeom>
          <a:noFill/>
          <a:ln/>
        </p:spPr>
        <p:txBody>
          <a:bodyPr wrap="square" lIns="0" tIns="0" rIns="0" bIns="0" rtlCol="0" anchor="ctr"/>
          <a:lstStyle/>
          <a:p>
            <a:pPr indent="0" marL="0">
              <a:buNone/>
            </a:pPr>
            <a:r>
              <a:rPr lang="en-US" sz="4600" b="1" dirty="0">
                <a:solidFill>
                  <a:srgbClr val="1A9E8F"/>
                </a:solidFill>
                <a:latin typeface="Cambria" pitchFamily="34" charset="0"/>
                <a:ea typeface="Cambria" pitchFamily="34" charset="-122"/>
                <a:cs typeface="Cambria" pitchFamily="34" charset="-120"/>
              </a:rPr>
              <a:t>+16,6%</a:t>
            </a:r>
            <a:endParaRPr lang="en-US" sz="4600" dirty="0"/>
          </a:p>
        </p:txBody>
      </p:sp>
      <p:sp>
        <p:nvSpPr>
          <p:cNvPr id="13" name="Text 8"/>
          <p:cNvSpPr/>
          <p:nvPr/>
        </p:nvSpPr>
        <p:spPr>
          <a:xfrm>
            <a:off x="8046720" y="4617720"/>
            <a:ext cx="3291840" cy="640080"/>
          </a:xfrm>
          <a:prstGeom prst="rect">
            <a:avLst/>
          </a:prstGeom>
          <a:noFill/>
          <a:ln/>
        </p:spPr>
        <p:txBody>
          <a:bodyPr wrap="square" lIns="0" tIns="0" rIns="0" bIns="0" rtlCol="0" anchor="t"/>
          <a:lstStyle/>
          <a:p>
            <a:pPr indent="0" marL="0">
              <a:buNone/>
            </a:pPr>
            <a:r>
              <a:rPr lang="en-US" sz="1200" dirty="0">
                <a:solidFill>
                  <a:srgbClr val="1E5E55"/>
                </a:solidFill>
                <a:latin typeface="Calibri" pitchFamily="34" charset="0"/>
                <a:ea typeface="Calibri" pitchFamily="34" charset="-122"/>
                <a:cs typeface="Calibri" pitchFamily="34" charset="-120"/>
              </a:rPr>
              <a:t>volumen mensual SIN octógono (99.308 → 115.796 u.)</a:t>
            </a:r>
            <a:endParaRPr lang="en-US" sz="1200" dirty="0"/>
          </a:p>
        </p:txBody>
      </p:sp>
      <p:sp>
        <p:nvSpPr>
          <p:cNvPr id="14" name="Shape 9"/>
          <p:cNvSpPr/>
          <p:nvPr/>
        </p:nvSpPr>
        <p:spPr>
          <a:xfrm>
            <a:off x="566928" y="5943600"/>
            <a:ext cx="11064240" cy="713232"/>
          </a:xfrm>
          <a:prstGeom prst="roundRect">
            <a:avLst>
              <a:gd name="adj" fmla="val 7692"/>
            </a:avLst>
          </a:prstGeom>
          <a:solidFill>
            <a:srgbClr val="F4F6F9"/>
          </a:solidFill>
          <a:ln/>
          <a:effectLst>
            <a:outerShdw sx="100000" sy="100000" kx="0" ky="0" algn="bl" rotWithShape="0" blurRad="88900" dist="38100" dir="5400000">
              <a:srgbClr val="000000">
                <a:alpha val="16000"/>
              </a:srgbClr>
            </a:outerShdw>
          </a:effectLst>
        </p:spPr>
      </p:sp>
      <p:sp>
        <p:nvSpPr>
          <p:cNvPr id="15" name="Text 10"/>
          <p:cNvSpPr/>
          <p:nvPr/>
        </p:nvSpPr>
        <p:spPr>
          <a:xfrm>
            <a:off x="822960" y="6053328"/>
            <a:ext cx="10607040" cy="493776"/>
          </a:xfrm>
          <a:prstGeom prst="rect">
            <a:avLst/>
          </a:prstGeom>
          <a:noFill/>
          <a:ln/>
        </p:spPr>
        <p:txBody>
          <a:bodyPr wrap="square" lIns="0" tIns="0" rIns="0" bIns="0" rtlCol="0" anchor="ctr"/>
          <a:lstStyle/>
          <a:p>
            <a:pPr indent="0" marL="0">
              <a:lnSpc>
                <a:spcPct val="105000"/>
              </a:lnSpc>
              <a:buNone/>
            </a:pPr>
            <a:r>
              <a:rPr lang="en-US" sz="1350" i="1" dirty="0">
                <a:solidFill>
                  <a:srgbClr val="1F2A37"/>
                </a:solidFill>
                <a:latin typeface="Calibri" pitchFamily="34" charset="0"/>
                <a:ea typeface="Calibri" pitchFamily="34" charset="-122"/>
                <a:cs typeface="Calibri" pitchFamily="34" charset="-120"/>
              </a:rPr>
              <a:t>Dentro de la misma empresa, un grupo cae y el otro crece: una brecha de 34,9 puntos porcentuales.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57200"/>
            <a:ext cx="548640" cy="548640"/>
          </a:xfrm>
          <a:prstGeom prst="rect">
            <a:avLst/>
          </a:prstGeom>
        </p:spPr>
      </p:pic>
      <p:sp>
        <p:nvSpPr>
          <p:cNvPr id="3" name="Shape 0"/>
          <p:cNvSpPr/>
          <p:nvPr/>
        </p:nvSpPr>
        <p:spPr>
          <a:xfrm>
            <a:off x="566928" y="457200"/>
            <a:ext cx="548640" cy="548640"/>
          </a:xfrm>
          <a:prstGeom prst="ellipse">
            <a:avLst/>
          </a:prstGeom>
          <a:solidFill>
            <a:srgbClr val="E0A100"/>
          </a:solidFill>
          <a:ln/>
        </p:spPr>
      </p:sp>
      <p:pic>
        <p:nvPicPr>
          <p:cNvPr id="4" name="Image 1" descr="preencoded.png">    </p:cNvPr>
          <p:cNvPicPr>
            <a:picLocks noChangeAspect="1"/>
          </p:cNvPicPr>
          <p:nvPr/>
        </p:nvPicPr>
        <p:blipFill>
          <a:blip r:embed="rId2"/>
          <a:stretch>
            <a:fillRect/>
          </a:stretch>
        </p:blipFill>
        <p:spPr>
          <a:xfrm>
            <a:off x="685800" y="576072"/>
            <a:ext cx="310896" cy="310896"/>
          </a:xfrm>
          <a:prstGeom prst="rect">
            <a:avLst/>
          </a:prstGeom>
        </p:spPr>
      </p:pic>
      <p:sp>
        <p:nvSpPr>
          <p:cNvPr id="5" name="Text 1"/>
          <p:cNvSpPr/>
          <p:nvPr/>
        </p:nvSpPr>
        <p:spPr>
          <a:xfrm>
            <a:off x="1298448" y="420624"/>
            <a:ext cx="9144000" cy="274320"/>
          </a:xfrm>
          <a:prstGeom prst="rect">
            <a:avLst/>
          </a:prstGeom>
          <a:noFill/>
          <a:ln/>
        </p:spPr>
        <p:txBody>
          <a:bodyPr wrap="square" lIns="0" tIns="0" rIns="0" bIns="0" rtlCol="0" anchor="ctr"/>
          <a:lstStyle/>
          <a:p>
            <a:pPr indent="0" marL="0">
              <a:buNone/>
            </a:pPr>
            <a:r>
              <a:rPr lang="en-US" sz="1100" b="1" spc="200" kern="0" dirty="0">
                <a:solidFill>
                  <a:srgbClr val="E0A100"/>
                </a:solidFill>
                <a:latin typeface="Calibri" pitchFamily="34" charset="0"/>
                <a:ea typeface="Calibri" pitchFamily="34" charset="-122"/>
                <a:cs typeface="Calibri" pitchFamily="34" charset="-120"/>
              </a:rPr>
              <a:t>RESULTADOS · CONTROL POR PRECIO</a:t>
            </a:r>
            <a:endParaRPr lang="en-US" sz="1100" dirty="0"/>
          </a:p>
        </p:txBody>
      </p:sp>
      <p:sp>
        <p:nvSpPr>
          <p:cNvPr id="6" name="Text 2"/>
          <p:cNvSpPr/>
          <p:nvPr/>
        </p:nvSpPr>
        <p:spPr>
          <a:xfrm>
            <a:off x="1298448" y="658368"/>
            <a:ext cx="10424160" cy="50292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El precio no explica la divergencia</a:t>
            </a:r>
            <a:endParaRPr lang="en-US" sz="2600" dirty="0"/>
          </a:p>
        </p:txBody>
      </p:sp>
      <p:pic>
        <p:nvPicPr>
          <p:cNvPr id="7" name="Image 2" descr="figs/img-002.png">    </p:cNvPr>
          <p:cNvPicPr>
            <a:picLocks noChangeAspect="1"/>
          </p:cNvPicPr>
          <p:nvPr/>
        </p:nvPicPr>
        <p:blipFill>
          <a:blip r:embed="rId3"/>
          <a:stretch>
            <a:fillRect/>
          </a:stretch>
        </p:blipFill>
        <p:spPr>
          <a:xfrm>
            <a:off x="566928" y="1783080"/>
            <a:ext cx="6903720" cy="2463165"/>
          </a:xfrm>
          <a:prstGeom prst="rect">
            <a:avLst/>
          </a:prstGeom>
        </p:spPr>
      </p:pic>
      <p:sp>
        <p:nvSpPr>
          <p:cNvPr id="8" name="Text 3"/>
          <p:cNvSpPr/>
          <p:nvPr/>
        </p:nvSpPr>
        <p:spPr>
          <a:xfrm>
            <a:off x="566928" y="4264533"/>
            <a:ext cx="6903720" cy="274320"/>
          </a:xfrm>
          <a:prstGeom prst="rect">
            <a:avLst/>
          </a:prstGeom>
          <a:noFill/>
          <a:ln/>
        </p:spPr>
        <p:txBody>
          <a:bodyPr wrap="square"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Figura: precio real (FACPCE, base dic-2024) y cantidad vendida, por grupo.</a:t>
            </a:r>
            <a:endParaRPr lang="en-US" sz="1000" dirty="0"/>
          </a:p>
        </p:txBody>
      </p:sp>
      <p:sp>
        <p:nvSpPr>
          <p:cNvPr id="9" name="Shape 4"/>
          <p:cNvSpPr/>
          <p:nvPr/>
        </p:nvSpPr>
        <p:spPr>
          <a:xfrm>
            <a:off x="7726680" y="1627632"/>
            <a:ext cx="3904488" cy="1371600"/>
          </a:xfrm>
          <a:prstGeom prst="roundRect">
            <a:avLst>
              <a:gd name="adj" fmla="val 4667"/>
            </a:avLst>
          </a:prstGeom>
          <a:solidFill>
            <a:srgbClr val="FBEDED"/>
          </a:solidFill>
          <a:ln/>
          <a:effectLst>
            <a:outerShdw sx="100000" sy="100000" kx="0" ky="0" algn="bl" rotWithShape="0" blurRad="88900" dist="38100" dir="5400000">
              <a:srgbClr val="000000">
                <a:alpha val="16000"/>
              </a:srgbClr>
            </a:outerShdw>
          </a:effectLst>
        </p:spPr>
      </p:sp>
      <p:sp>
        <p:nvSpPr>
          <p:cNvPr id="10" name="Text 5"/>
          <p:cNvSpPr/>
          <p:nvPr/>
        </p:nvSpPr>
        <p:spPr>
          <a:xfrm>
            <a:off x="7982712" y="1755648"/>
            <a:ext cx="3392424" cy="320040"/>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CON octógono</a:t>
            </a:r>
            <a:endParaRPr lang="en-US" sz="1500" dirty="0"/>
          </a:p>
        </p:txBody>
      </p:sp>
      <p:sp>
        <p:nvSpPr>
          <p:cNvPr id="11" name="Text 6"/>
          <p:cNvSpPr/>
          <p:nvPr/>
        </p:nvSpPr>
        <p:spPr>
          <a:xfrm>
            <a:off x="7982712" y="2194560"/>
            <a:ext cx="3392424" cy="640080"/>
          </a:xfrm>
          <a:prstGeom prst="rect">
            <a:avLst/>
          </a:prstGeom>
          <a:noFill/>
          <a:ln/>
        </p:spPr>
        <p:txBody>
          <a:bodyPr wrap="square" lIns="0" tIns="0" rIns="0" bIns="0" rtlCol="0" anchor="t"/>
          <a:lstStyle/>
          <a:p>
            <a:pPr indent="0" marL="0">
              <a:lnSpc>
                <a:spcPct val="105000"/>
              </a:lnSpc>
              <a:buNone/>
            </a:pPr>
            <a:r>
              <a:rPr lang="en-US" sz="1400" dirty="0">
                <a:solidFill>
                  <a:srgbClr val="6B7785"/>
                </a:solidFill>
                <a:latin typeface="Calibri" pitchFamily="34" charset="0"/>
                <a:ea typeface="Calibri" pitchFamily="34" charset="-122"/>
                <a:cs typeface="Calibri" pitchFamily="34" charset="-120"/>
              </a:rPr>
              <a:t>Precio real: </a:t>
            </a:r>
            <a:pPr indent="0" marL="0">
              <a:lnSpc>
                <a:spcPct val="105000"/>
              </a:lnSpc>
              <a:buNone/>
            </a:pPr>
            <a:r>
              <a:rPr lang="en-US" sz="1400" b="1" dirty="0">
                <a:solidFill>
                  <a:srgbClr val="1F2A37"/>
                </a:solidFill>
                <a:latin typeface="Calibri" pitchFamily="34" charset="0"/>
                <a:ea typeface="Calibri" pitchFamily="34" charset="-122"/>
                <a:cs typeface="Calibri" pitchFamily="34" charset="-120"/>
              </a:rPr>
              <a:t>+9,1%</a:t>
            </a:r>
            <a:pPr indent="0" marL="0">
              <a:lnSpc>
                <a:spcPct val="105000"/>
              </a:lnSpc>
              <a:buNone/>
            </a:pPr>
            <a:r>
              <a:rPr lang="en-US" sz="1400" dirty="0">
                <a:solidFill>
                  <a:srgbClr val="6B7785"/>
                </a:solidFill>
                <a:latin typeface="Calibri" pitchFamily="34" charset="0"/>
                <a:ea typeface="Calibri" pitchFamily="34" charset="-122"/>
                <a:cs typeface="Calibri" pitchFamily="34" charset="-120"/>
              </a:rPr>
              <a:t>     Cantidad: </a:t>
            </a:r>
            <a:pPr indent="0" marL="0">
              <a:lnSpc>
                <a:spcPct val="105000"/>
              </a:lnSpc>
              <a:buNone/>
            </a:pPr>
            <a:r>
              <a:rPr lang="en-US" sz="1400" b="1" dirty="0">
                <a:solidFill>
                  <a:srgbClr val="D64545"/>
                </a:solidFill>
                <a:latin typeface="Calibri" pitchFamily="34" charset="0"/>
                <a:ea typeface="Calibri" pitchFamily="34" charset="-122"/>
                <a:cs typeface="Calibri" pitchFamily="34" charset="-120"/>
              </a:rPr>
              <a:t>−18,3%</a:t>
            </a:r>
            <a:endParaRPr lang="en-US" sz="1400" dirty="0"/>
          </a:p>
        </p:txBody>
      </p:sp>
      <p:sp>
        <p:nvSpPr>
          <p:cNvPr id="12" name="Shape 7"/>
          <p:cNvSpPr/>
          <p:nvPr/>
        </p:nvSpPr>
        <p:spPr>
          <a:xfrm>
            <a:off x="7726680" y="3154680"/>
            <a:ext cx="3904488" cy="1371600"/>
          </a:xfrm>
          <a:prstGeom prst="roundRect">
            <a:avLst>
              <a:gd name="adj" fmla="val 4667"/>
            </a:avLst>
          </a:prstGeom>
          <a:solidFill>
            <a:srgbClr val="E8F6F3"/>
          </a:solidFill>
          <a:ln/>
          <a:effectLst>
            <a:outerShdw sx="100000" sy="100000" kx="0" ky="0" algn="bl" rotWithShape="0" blurRad="88900" dist="38100" dir="5400000">
              <a:srgbClr val="000000">
                <a:alpha val="16000"/>
              </a:srgbClr>
            </a:outerShdw>
          </a:effectLst>
        </p:spPr>
      </p:sp>
      <p:sp>
        <p:nvSpPr>
          <p:cNvPr id="13" name="Text 8"/>
          <p:cNvSpPr/>
          <p:nvPr/>
        </p:nvSpPr>
        <p:spPr>
          <a:xfrm>
            <a:off x="7982712" y="3282696"/>
            <a:ext cx="3392424" cy="320040"/>
          </a:xfrm>
          <a:prstGeom prst="rect">
            <a:avLst/>
          </a:prstGeom>
          <a:noFill/>
          <a:ln/>
        </p:spPr>
        <p:txBody>
          <a:bodyPr wrap="square" lIns="0" tIns="0" rIns="0" bIns="0" rtlCol="0" anchor="ctr"/>
          <a:lstStyle/>
          <a:p>
            <a:pPr indent="0" marL="0">
              <a:buNone/>
            </a:pPr>
            <a:r>
              <a:rPr lang="en-US" sz="1500" b="1" dirty="0">
                <a:solidFill>
                  <a:srgbClr val="1A9E8F"/>
                </a:solidFill>
                <a:latin typeface="Cambria" pitchFamily="34" charset="0"/>
                <a:ea typeface="Cambria" pitchFamily="34" charset="-122"/>
                <a:cs typeface="Cambria" pitchFamily="34" charset="-120"/>
              </a:rPr>
              <a:t>SIN octógono</a:t>
            </a:r>
            <a:endParaRPr lang="en-US" sz="1500" dirty="0"/>
          </a:p>
        </p:txBody>
      </p:sp>
      <p:sp>
        <p:nvSpPr>
          <p:cNvPr id="14" name="Text 9"/>
          <p:cNvSpPr/>
          <p:nvPr/>
        </p:nvSpPr>
        <p:spPr>
          <a:xfrm>
            <a:off x="7982712" y="3721608"/>
            <a:ext cx="3392424" cy="640080"/>
          </a:xfrm>
          <a:prstGeom prst="rect">
            <a:avLst/>
          </a:prstGeom>
          <a:noFill/>
          <a:ln/>
        </p:spPr>
        <p:txBody>
          <a:bodyPr wrap="square" lIns="0" tIns="0" rIns="0" bIns="0" rtlCol="0" anchor="t"/>
          <a:lstStyle/>
          <a:p>
            <a:pPr indent="0" marL="0">
              <a:lnSpc>
                <a:spcPct val="105000"/>
              </a:lnSpc>
              <a:buNone/>
            </a:pPr>
            <a:r>
              <a:rPr lang="en-US" sz="1400" dirty="0">
                <a:solidFill>
                  <a:srgbClr val="6B7785"/>
                </a:solidFill>
                <a:latin typeface="Calibri" pitchFamily="34" charset="0"/>
                <a:ea typeface="Calibri" pitchFamily="34" charset="-122"/>
                <a:cs typeface="Calibri" pitchFamily="34" charset="-120"/>
              </a:rPr>
              <a:t>Precio real: </a:t>
            </a:r>
            <a:pPr indent="0" marL="0">
              <a:lnSpc>
                <a:spcPct val="105000"/>
              </a:lnSpc>
              <a:buNone/>
            </a:pPr>
            <a:r>
              <a:rPr lang="en-US" sz="1400" b="1" dirty="0">
                <a:solidFill>
                  <a:srgbClr val="1F2A37"/>
                </a:solidFill>
                <a:latin typeface="Calibri" pitchFamily="34" charset="0"/>
                <a:ea typeface="Calibri" pitchFamily="34" charset="-122"/>
                <a:cs typeface="Calibri" pitchFamily="34" charset="-120"/>
              </a:rPr>
              <a:t>+20,3%</a:t>
            </a:r>
            <a:pPr indent="0" marL="0">
              <a:lnSpc>
                <a:spcPct val="105000"/>
              </a:lnSpc>
              <a:buNone/>
            </a:pPr>
            <a:r>
              <a:rPr lang="en-US" sz="1400" dirty="0">
                <a:solidFill>
                  <a:srgbClr val="6B7785"/>
                </a:solidFill>
                <a:latin typeface="Calibri" pitchFamily="34" charset="0"/>
                <a:ea typeface="Calibri" pitchFamily="34" charset="-122"/>
                <a:cs typeface="Calibri" pitchFamily="34" charset="-120"/>
              </a:rPr>
              <a:t>     Cantidad: </a:t>
            </a:r>
            <a:pPr indent="0" marL="0">
              <a:lnSpc>
                <a:spcPct val="105000"/>
              </a:lnSpc>
              <a:buNone/>
            </a:pPr>
            <a:r>
              <a:rPr lang="en-US" sz="1400" b="1" dirty="0">
                <a:solidFill>
                  <a:srgbClr val="1A9E8F"/>
                </a:solidFill>
                <a:latin typeface="Calibri" pitchFamily="34" charset="0"/>
                <a:ea typeface="Calibri" pitchFamily="34" charset="-122"/>
                <a:cs typeface="Calibri" pitchFamily="34" charset="-120"/>
              </a:rPr>
              <a:t>+16,6%</a:t>
            </a:r>
            <a:endParaRPr lang="en-US" sz="1400" dirty="0"/>
          </a:p>
        </p:txBody>
      </p:sp>
      <p:sp>
        <p:nvSpPr>
          <p:cNvPr id="15" name="Shape 10"/>
          <p:cNvSpPr/>
          <p:nvPr/>
        </p:nvSpPr>
        <p:spPr>
          <a:xfrm>
            <a:off x="7726680" y="4736592"/>
            <a:ext cx="3904488" cy="1371600"/>
          </a:xfrm>
          <a:prstGeom prst="roundRect">
            <a:avLst>
              <a:gd name="adj" fmla="val 4000"/>
            </a:avLst>
          </a:prstGeom>
          <a:solidFill>
            <a:srgbClr val="FFF7E6"/>
          </a:solidFill>
          <a:ln/>
          <a:effectLst>
            <a:outerShdw sx="100000" sy="100000" kx="0" ky="0" algn="bl" rotWithShape="0" blurRad="88900" dist="38100" dir="5400000">
              <a:srgbClr val="000000">
                <a:alpha val="16000"/>
              </a:srgbClr>
            </a:outerShdw>
          </a:effectLst>
        </p:spPr>
      </p:sp>
      <p:sp>
        <p:nvSpPr>
          <p:cNvPr id="16" name="Text 11"/>
          <p:cNvSpPr/>
          <p:nvPr/>
        </p:nvSpPr>
        <p:spPr>
          <a:xfrm>
            <a:off x="7982712" y="4846320"/>
            <a:ext cx="3447288" cy="1152144"/>
          </a:xfrm>
          <a:prstGeom prst="rect">
            <a:avLst/>
          </a:prstGeom>
          <a:noFill/>
          <a:ln/>
        </p:spPr>
        <p:txBody>
          <a:bodyPr wrap="square" lIns="0" tIns="0" rIns="0" bIns="0" rtlCol="0" anchor="ctr"/>
          <a:lstStyle/>
          <a:p>
            <a:pPr indent="0" marL="0">
              <a:lnSpc>
                <a:spcPct val="105000"/>
              </a:lnSpc>
              <a:buNone/>
            </a:pPr>
            <a:r>
              <a:rPr lang="en-US" sz="1350" i="1" dirty="0">
                <a:solidFill>
                  <a:srgbClr val="1F2A37"/>
                </a:solidFill>
                <a:latin typeface="Calibri" pitchFamily="34" charset="0"/>
                <a:ea typeface="Calibri" pitchFamily="34" charset="-122"/>
                <a:cs typeface="Calibri" pitchFamily="34" charset="-120"/>
              </a:rPr>
              <a:t>El grupo que más se encareció en términos reales (+20,3%) fue el que ganó volumen. Lo contrario a la teoría de demanda: el precio no manda acá.</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57200"/>
            <a:ext cx="548640" cy="548640"/>
          </a:xfrm>
          <a:prstGeom prst="rect">
            <a:avLst/>
          </a:prstGeom>
        </p:spPr>
      </p:pic>
      <p:sp>
        <p:nvSpPr>
          <p:cNvPr id="3" name="Shape 0"/>
          <p:cNvSpPr/>
          <p:nvPr/>
        </p:nvSpPr>
        <p:spPr>
          <a:xfrm>
            <a:off x="566928" y="457200"/>
            <a:ext cx="548640" cy="548640"/>
          </a:xfrm>
          <a:prstGeom prst="ellipse">
            <a:avLst/>
          </a:prstGeom>
          <a:solidFill>
            <a:srgbClr val="D64545"/>
          </a:solidFill>
          <a:ln/>
        </p:spPr>
      </p:sp>
      <p:pic>
        <p:nvPicPr>
          <p:cNvPr id="4" name="Image 1" descr="preencoded.png">    </p:cNvPr>
          <p:cNvPicPr>
            <a:picLocks noChangeAspect="1"/>
          </p:cNvPicPr>
          <p:nvPr/>
        </p:nvPicPr>
        <p:blipFill>
          <a:blip r:embed="rId2"/>
          <a:stretch>
            <a:fillRect/>
          </a:stretch>
        </p:blipFill>
        <p:spPr>
          <a:xfrm>
            <a:off x="685800" y="576072"/>
            <a:ext cx="310896" cy="310896"/>
          </a:xfrm>
          <a:prstGeom prst="rect">
            <a:avLst/>
          </a:prstGeom>
        </p:spPr>
      </p:pic>
      <p:sp>
        <p:nvSpPr>
          <p:cNvPr id="5" name="Text 1"/>
          <p:cNvSpPr/>
          <p:nvPr/>
        </p:nvSpPr>
        <p:spPr>
          <a:xfrm>
            <a:off x="1298448" y="420624"/>
            <a:ext cx="9144000" cy="274320"/>
          </a:xfrm>
          <a:prstGeom prst="rect">
            <a:avLst/>
          </a:prstGeom>
          <a:noFill/>
          <a:ln/>
        </p:spPr>
        <p:txBody>
          <a:bodyPr wrap="square" lIns="0" tIns="0" rIns="0" bIns="0" rtlCol="0" anchor="ctr"/>
          <a:lstStyle/>
          <a:p>
            <a:pPr indent="0" marL="0">
              <a:buNone/>
            </a:pPr>
            <a:r>
              <a:rPr lang="en-US" sz="1100" b="1" spc="200" kern="0" dirty="0">
                <a:solidFill>
                  <a:srgbClr val="D64545"/>
                </a:solidFill>
                <a:latin typeface="Calibri" pitchFamily="34" charset="0"/>
                <a:ea typeface="Calibri" pitchFamily="34" charset="-122"/>
                <a:cs typeface="Calibri" pitchFamily="34" charset="-120"/>
              </a:rPr>
              <a:t>RESULTADOS · ELASTICIDAD-ARCO</a:t>
            </a:r>
            <a:endParaRPr lang="en-US" sz="1100" dirty="0"/>
          </a:p>
        </p:txBody>
      </p:sp>
      <p:sp>
        <p:nvSpPr>
          <p:cNvPr id="6" name="Text 2"/>
          <p:cNvSpPr/>
          <p:nvPr/>
        </p:nvSpPr>
        <p:spPr>
          <a:xfrm>
            <a:off x="1298448" y="658368"/>
            <a:ext cx="10424160" cy="502920"/>
          </a:xfrm>
          <a:prstGeom prst="rect">
            <a:avLst/>
          </a:prstGeom>
          <a:noFill/>
          <a:ln/>
        </p:spPr>
        <p:txBody>
          <a:bodyPr wrap="square" lIns="0" tIns="0" rIns="0" bIns="0" rtlCol="0" anchor="ctr"/>
          <a:lstStyle/>
          <a:p>
            <a:pPr indent="0" marL="0">
              <a:buNone/>
            </a:pPr>
            <a:r>
              <a:rPr lang="en-US" sz="2600" b="1" dirty="0">
                <a:solidFill>
                  <a:srgbClr val="1F2A37"/>
                </a:solidFill>
                <a:latin typeface="Cambria" pitchFamily="34" charset="0"/>
                <a:ea typeface="Cambria" pitchFamily="34" charset="-122"/>
                <a:cs typeface="Cambria" pitchFamily="34" charset="-120"/>
              </a:rPr>
              <a:t>Elasticidad y efecto sustituto</a:t>
            </a:r>
            <a:endParaRPr lang="en-US" sz="2600" dirty="0"/>
          </a:p>
        </p:txBody>
      </p:sp>
      <p:sp>
        <p:nvSpPr>
          <p:cNvPr id="7" name="Shape 3"/>
          <p:cNvSpPr/>
          <p:nvPr/>
        </p:nvSpPr>
        <p:spPr>
          <a:xfrm>
            <a:off x="566928" y="1645920"/>
            <a:ext cx="5440680" cy="2240280"/>
          </a:xfrm>
          <a:prstGeom prst="roundRect">
            <a:avLst>
              <a:gd name="adj" fmla="val 3265"/>
            </a:avLst>
          </a:prstGeom>
          <a:solidFill>
            <a:srgbClr val="FBEDED"/>
          </a:solidFill>
          <a:ln/>
          <a:effectLst>
            <a:outerShdw sx="100000" sy="100000" kx="0" ky="0" algn="bl" rotWithShape="0" blurRad="88900" dist="38100" dir="5400000">
              <a:srgbClr val="000000">
                <a:alpha val="16000"/>
              </a:srgbClr>
            </a:outerShdw>
          </a:effectLst>
        </p:spPr>
      </p:sp>
      <p:sp>
        <p:nvSpPr>
          <p:cNvPr id="8" name="Text 4"/>
          <p:cNvSpPr/>
          <p:nvPr/>
        </p:nvSpPr>
        <p:spPr>
          <a:xfrm>
            <a:off x="932688" y="1810512"/>
            <a:ext cx="4709160" cy="320040"/>
          </a:xfrm>
          <a:prstGeom prst="rect">
            <a:avLst/>
          </a:prstGeom>
          <a:noFill/>
          <a:ln/>
        </p:spPr>
        <p:txBody>
          <a:bodyPr wrap="square" lIns="0" tIns="0" rIns="0" bIns="0" rtlCol="0" anchor="ctr"/>
          <a:lstStyle/>
          <a:p>
            <a:pPr indent="0" marL="0">
              <a:buNone/>
            </a:pPr>
            <a:r>
              <a:rPr lang="en-US" sz="1300" b="1" spc="100" kern="0" dirty="0">
                <a:solidFill>
                  <a:srgbClr val="D64545"/>
                </a:solidFill>
                <a:latin typeface="Calibri" pitchFamily="34" charset="0"/>
                <a:ea typeface="Calibri" pitchFamily="34" charset="-122"/>
                <a:cs typeface="Calibri" pitchFamily="34" charset="-120"/>
              </a:rPr>
              <a:t>CON OCTÓGONO</a:t>
            </a:r>
            <a:endParaRPr lang="en-US" sz="1300" dirty="0"/>
          </a:p>
        </p:txBody>
      </p:sp>
      <p:sp>
        <p:nvSpPr>
          <p:cNvPr id="9" name="Text 5"/>
          <p:cNvSpPr/>
          <p:nvPr/>
        </p:nvSpPr>
        <p:spPr>
          <a:xfrm>
            <a:off x="932688" y="2103120"/>
            <a:ext cx="2743200" cy="960120"/>
          </a:xfrm>
          <a:prstGeom prst="rect">
            <a:avLst/>
          </a:prstGeom>
          <a:noFill/>
          <a:ln/>
        </p:spPr>
        <p:txBody>
          <a:bodyPr wrap="square" lIns="0" tIns="0" rIns="0" bIns="0" rtlCol="0" anchor="ctr"/>
          <a:lstStyle/>
          <a:p>
            <a:pPr indent="0" marL="0">
              <a:buNone/>
            </a:pPr>
            <a:r>
              <a:rPr lang="en-US" sz="5600" b="1" dirty="0">
                <a:solidFill>
                  <a:srgbClr val="D64545"/>
                </a:solidFill>
                <a:latin typeface="Cambria" pitchFamily="34" charset="0"/>
                <a:ea typeface="Cambria" pitchFamily="34" charset="-122"/>
                <a:cs typeface="Cambria" pitchFamily="34" charset="-120"/>
              </a:rPr>
              <a:t>−0,15</a:t>
            </a:r>
            <a:endParaRPr lang="en-US" sz="5600" dirty="0"/>
          </a:p>
        </p:txBody>
      </p:sp>
      <p:sp>
        <p:nvSpPr>
          <p:cNvPr id="10" name="Text 6"/>
          <p:cNvSpPr/>
          <p:nvPr/>
        </p:nvSpPr>
        <p:spPr>
          <a:xfrm>
            <a:off x="932688" y="3154680"/>
            <a:ext cx="4709160" cy="640080"/>
          </a:xfrm>
          <a:prstGeom prst="rect">
            <a:avLst/>
          </a:prstGeom>
          <a:noFill/>
          <a:ln/>
        </p:spPr>
        <p:txBody>
          <a:bodyPr wrap="square" lIns="0" tIns="0" rIns="0" bIns="0" rtlCol="0" anchor="t"/>
          <a:lstStyle/>
          <a:p>
            <a:pPr indent="0" marL="0">
              <a:lnSpc>
                <a:spcPct val="105000"/>
              </a:lnSpc>
              <a:buNone/>
            </a:pPr>
            <a:r>
              <a:rPr lang="en-US" sz="1250" dirty="0">
                <a:solidFill>
                  <a:srgbClr val="1F2A37"/>
                </a:solidFill>
                <a:latin typeface="Calibri" pitchFamily="34" charset="0"/>
                <a:ea typeface="Calibri" pitchFamily="34" charset="-122"/>
                <a:cs typeface="Calibri" pitchFamily="34" charset="-120"/>
              </a:rPr>
              <a:t>Demanda inelástica: cae el volumen en la dirección esperada de un bien normal.</a:t>
            </a:r>
            <a:endParaRPr lang="en-US" sz="1250" dirty="0"/>
          </a:p>
        </p:txBody>
      </p:sp>
      <p:sp>
        <p:nvSpPr>
          <p:cNvPr id="11" name="Shape 7"/>
          <p:cNvSpPr/>
          <p:nvPr/>
        </p:nvSpPr>
        <p:spPr>
          <a:xfrm>
            <a:off x="6181344" y="1645920"/>
            <a:ext cx="5440680" cy="2240280"/>
          </a:xfrm>
          <a:prstGeom prst="roundRect">
            <a:avLst>
              <a:gd name="adj" fmla="val 3265"/>
            </a:avLst>
          </a:prstGeom>
          <a:solidFill>
            <a:srgbClr val="E8F6F3"/>
          </a:solidFill>
          <a:ln/>
          <a:effectLst>
            <a:outerShdw sx="100000" sy="100000" kx="0" ky="0" algn="bl" rotWithShape="0" blurRad="88900" dist="38100" dir="5400000">
              <a:srgbClr val="000000">
                <a:alpha val="16000"/>
              </a:srgbClr>
            </a:outerShdw>
          </a:effectLst>
        </p:spPr>
      </p:sp>
      <p:sp>
        <p:nvSpPr>
          <p:cNvPr id="12" name="Text 8"/>
          <p:cNvSpPr/>
          <p:nvPr/>
        </p:nvSpPr>
        <p:spPr>
          <a:xfrm>
            <a:off x="6547104" y="1810512"/>
            <a:ext cx="4709160" cy="320040"/>
          </a:xfrm>
          <a:prstGeom prst="rect">
            <a:avLst/>
          </a:prstGeom>
          <a:noFill/>
          <a:ln/>
        </p:spPr>
        <p:txBody>
          <a:bodyPr wrap="square" lIns="0" tIns="0" rIns="0" bIns="0" rtlCol="0" anchor="ctr"/>
          <a:lstStyle/>
          <a:p>
            <a:pPr indent="0" marL="0">
              <a:buNone/>
            </a:pPr>
            <a:r>
              <a:rPr lang="en-US" sz="1300" b="1" spc="100" kern="0" dirty="0">
                <a:solidFill>
                  <a:srgbClr val="1A9E8F"/>
                </a:solidFill>
                <a:latin typeface="Calibri" pitchFamily="34" charset="0"/>
                <a:ea typeface="Calibri" pitchFamily="34" charset="-122"/>
                <a:cs typeface="Calibri" pitchFamily="34" charset="-120"/>
              </a:rPr>
              <a:t>SIN OCTÓGONO</a:t>
            </a:r>
            <a:endParaRPr lang="en-US" sz="1300" dirty="0"/>
          </a:p>
        </p:txBody>
      </p:sp>
      <p:sp>
        <p:nvSpPr>
          <p:cNvPr id="13" name="Text 9"/>
          <p:cNvSpPr/>
          <p:nvPr/>
        </p:nvSpPr>
        <p:spPr>
          <a:xfrm>
            <a:off x="6547104" y="2103120"/>
            <a:ext cx="2743200" cy="960120"/>
          </a:xfrm>
          <a:prstGeom prst="rect">
            <a:avLst/>
          </a:prstGeom>
          <a:noFill/>
          <a:ln/>
        </p:spPr>
        <p:txBody>
          <a:bodyPr wrap="square" lIns="0" tIns="0" rIns="0" bIns="0" rtlCol="0" anchor="ctr"/>
          <a:lstStyle/>
          <a:p>
            <a:pPr indent="0" marL="0">
              <a:buNone/>
            </a:pPr>
            <a:r>
              <a:rPr lang="en-US" sz="5600" b="1" dirty="0">
                <a:solidFill>
                  <a:srgbClr val="1A9E8F"/>
                </a:solidFill>
                <a:latin typeface="Cambria" pitchFamily="34" charset="0"/>
                <a:ea typeface="Cambria" pitchFamily="34" charset="-122"/>
                <a:cs typeface="Cambria" pitchFamily="34" charset="-120"/>
              </a:rPr>
              <a:t>+0,11</a:t>
            </a:r>
            <a:endParaRPr lang="en-US" sz="5600" dirty="0"/>
          </a:p>
        </p:txBody>
      </p:sp>
      <p:sp>
        <p:nvSpPr>
          <p:cNvPr id="14" name="Text 10"/>
          <p:cNvSpPr/>
          <p:nvPr/>
        </p:nvSpPr>
        <p:spPr>
          <a:xfrm>
            <a:off x="6547104" y="3154680"/>
            <a:ext cx="4709160" cy="640080"/>
          </a:xfrm>
          <a:prstGeom prst="rect">
            <a:avLst/>
          </a:prstGeom>
          <a:noFill/>
          <a:ln/>
        </p:spPr>
        <p:txBody>
          <a:bodyPr wrap="square" lIns="0" tIns="0" rIns="0" bIns="0" rtlCol="0" anchor="t"/>
          <a:lstStyle/>
          <a:p>
            <a:pPr indent="0" marL="0">
              <a:lnSpc>
                <a:spcPct val="105000"/>
              </a:lnSpc>
              <a:buNone/>
            </a:pPr>
            <a:r>
              <a:rPr lang="en-US" sz="1250" dirty="0">
                <a:solidFill>
                  <a:srgbClr val="1F2A37"/>
                </a:solidFill>
                <a:latin typeface="Calibri" pitchFamily="34" charset="0"/>
                <a:ea typeface="Calibri" pitchFamily="34" charset="-122"/>
                <a:cs typeface="Calibri" pitchFamily="34" charset="-120"/>
              </a:rPr>
              <a:t>Elasticidad positiva (inusual): la cantidad crece aunque el precio sube.</a:t>
            </a:r>
            <a:endParaRPr lang="en-US" sz="1250" dirty="0"/>
          </a:p>
        </p:txBody>
      </p:sp>
      <p:sp>
        <p:nvSpPr>
          <p:cNvPr id="15" name="Shape 11"/>
          <p:cNvSpPr/>
          <p:nvPr/>
        </p:nvSpPr>
        <p:spPr>
          <a:xfrm>
            <a:off x="566928" y="4160520"/>
            <a:ext cx="11064240" cy="1920240"/>
          </a:xfrm>
          <a:prstGeom prst="roundRect">
            <a:avLst>
              <a:gd name="adj" fmla="val 2857"/>
            </a:avLst>
          </a:prstGeom>
          <a:solidFill>
            <a:srgbClr val="E8F6F3"/>
          </a:solidFill>
          <a:ln/>
          <a:effectLst>
            <a:outerShdw sx="100000" sy="100000" kx="0" ky="0" algn="bl" rotWithShape="0" blurRad="88900" dist="38100" dir="5400000">
              <a:srgbClr val="000000">
                <a:alpha val="16000"/>
              </a:srgbClr>
            </a:outerShdw>
          </a:effectLst>
        </p:spPr>
      </p:sp>
      <p:sp>
        <p:nvSpPr>
          <p:cNvPr id="16" name="Text 12"/>
          <p:cNvSpPr/>
          <p:nvPr/>
        </p:nvSpPr>
        <p:spPr>
          <a:xfrm>
            <a:off x="822960" y="4270248"/>
            <a:ext cx="10607040" cy="1700784"/>
          </a:xfrm>
          <a:prstGeom prst="rect">
            <a:avLst/>
          </a:prstGeom>
          <a:noFill/>
          <a:ln/>
        </p:spPr>
        <p:txBody>
          <a:bodyPr wrap="square" lIns="0" tIns="0" rIns="0" bIns="0" rtlCol="0" anchor="ctr"/>
          <a:lstStyle/>
          <a:p>
            <a:pPr indent="0" marL="0">
              <a:lnSpc>
                <a:spcPct val="105000"/>
              </a:lnSpc>
              <a:buNone/>
            </a:pPr>
            <a:r>
              <a:rPr lang="en-US" sz="1350" i="1" dirty="0">
                <a:solidFill>
                  <a:srgbClr val="1F2A37"/>
                </a:solidFill>
                <a:latin typeface="Calibri" pitchFamily="34" charset="0"/>
                <a:ea typeface="Calibri" pitchFamily="34" charset="-122"/>
                <a:cs typeface="Calibri" pitchFamily="34" charset="-120"/>
              </a:rPr>
              <a:t>Elasticidad positiva en SIN octógono = efecto sustituto: los consumidores que dejaron los productos con sello redirigieron su demanda hacia los percibidos como más saludables, aun pagando más por ellos. El octógono no solo redujo la demanda de un grupo: la canalizó hacia el otro. Esta combinación —negativa en CON, positiva en SIN, con SIN más caro en términos reales— es la evidencia más fuerte del trabajo.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63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1A9E8F"/>
          </a:solidFill>
          <a:ln/>
        </p:spPr>
      </p:sp>
      <p:pic>
        <p:nvPicPr>
          <p:cNvPr id="3" name="Image 0" descr="preencoded.png">    </p:cNvPr>
          <p:cNvPicPr>
            <a:picLocks noChangeAspect="1"/>
          </p:cNvPicPr>
          <p:nvPr/>
        </p:nvPicPr>
        <p:blipFill>
          <a:blip r:embed="rId1"/>
          <a:stretch>
            <a:fillRect/>
          </a:stretch>
        </p:blipFill>
        <p:spPr>
          <a:xfrm>
            <a:off x="704088" y="640080"/>
            <a:ext cx="292608" cy="292608"/>
          </a:xfrm>
          <a:prstGeom prst="rect">
            <a:avLst/>
          </a:prstGeom>
        </p:spPr>
      </p:pic>
      <p:sp>
        <p:nvSpPr>
          <p:cNvPr id="4" name="Text 1"/>
          <p:cNvSpPr/>
          <p:nvPr/>
        </p:nvSpPr>
        <p:spPr>
          <a:xfrm>
            <a:off x="1316736" y="457200"/>
            <a:ext cx="91440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Calibri" pitchFamily="34" charset="0"/>
                <a:ea typeface="Calibri" pitchFamily="34" charset="-122"/>
                <a:cs typeface="Calibri" pitchFamily="34" charset="-120"/>
              </a:rPr>
              <a:t>CONCLUSIONES</a:t>
            </a:r>
            <a:endParaRPr lang="en-US" sz="1100" dirty="0"/>
          </a:p>
        </p:txBody>
      </p:sp>
      <p:sp>
        <p:nvSpPr>
          <p:cNvPr id="5" name="Text 2"/>
          <p:cNvSpPr/>
          <p:nvPr/>
        </p:nvSpPr>
        <p:spPr>
          <a:xfrm>
            <a:off x="1316736" y="713232"/>
            <a:ext cx="104241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El etiquetado sí cambió la conducta de compra</a:t>
            </a:r>
            <a:endParaRPr lang="en-US" sz="2600" dirty="0"/>
          </a:p>
        </p:txBody>
      </p:sp>
      <p:sp>
        <p:nvSpPr>
          <p:cNvPr id="6" name="Shape 3"/>
          <p:cNvSpPr/>
          <p:nvPr/>
        </p:nvSpPr>
        <p:spPr>
          <a:xfrm>
            <a:off x="566928" y="1554480"/>
            <a:ext cx="5440680" cy="1170432"/>
          </a:xfrm>
          <a:prstGeom prst="roundRect">
            <a:avLst>
              <a:gd name="adj" fmla="val 5469"/>
            </a:avLst>
          </a:prstGeom>
          <a:solidFill>
            <a:srgbClr val="1E3354"/>
          </a:solidFill>
          <a:ln/>
        </p:spPr>
      </p:sp>
      <p:sp>
        <p:nvSpPr>
          <p:cNvPr id="7" name="Text 4"/>
          <p:cNvSpPr/>
          <p:nvPr/>
        </p:nvSpPr>
        <p:spPr>
          <a:xfrm>
            <a:off x="841248" y="1682496"/>
            <a:ext cx="4937760" cy="365760"/>
          </a:xfrm>
          <a:prstGeom prst="rect">
            <a:avLst/>
          </a:prstGeom>
          <a:noFill/>
          <a:ln/>
        </p:spPr>
        <p:txBody>
          <a:bodyPr wrap="square" lIns="0" tIns="0" rIns="0" bIns="0" rtlCol="0" anchor="ctr"/>
          <a:lstStyle/>
          <a:p>
            <a:pPr indent="0" marL="0">
              <a:buNone/>
            </a:pPr>
            <a:r>
              <a:rPr lang="en-US" sz="1800" b="1" dirty="0">
                <a:solidFill>
                  <a:srgbClr val="1A9E8F"/>
                </a:solidFill>
                <a:latin typeface="Cambria" pitchFamily="34" charset="0"/>
                <a:ea typeface="Cambria" pitchFamily="34" charset="-122"/>
                <a:cs typeface="Cambria" pitchFamily="34" charset="-120"/>
              </a:rPr>
              <a:t>−18,3% vs +16,6%</a:t>
            </a:r>
            <a:endParaRPr lang="en-US" sz="1800" dirty="0"/>
          </a:p>
        </p:txBody>
      </p:sp>
      <p:sp>
        <p:nvSpPr>
          <p:cNvPr id="8" name="Text 5"/>
          <p:cNvSpPr/>
          <p:nvPr/>
        </p:nvSpPr>
        <p:spPr>
          <a:xfrm>
            <a:off x="841248" y="2066544"/>
            <a:ext cx="4937760" cy="566928"/>
          </a:xfrm>
          <a:prstGeom prst="rect">
            <a:avLst/>
          </a:prstGeom>
          <a:noFill/>
          <a:ln/>
        </p:spPr>
        <p:txBody>
          <a:bodyPr wrap="square" lIns="0" tIns="0" rIns="0" bIns="0" rtlCol="0" anchor="t"/>
          <a:lstStyle/>
          <a:p>
            <a:pPr indent="0" marL="0">
              <a:lnSpc>
                <a:spcPct val="103000"/>
              </a:lnSpc>
              <a:buNone/>
            </a:pPr>
            <a:r>
              <a:rPr lang="en-US" sz="1250" dirty="0">
                <a:solidFill>
                  <a:srgbClr val="D5DEEA"/>
                </a:solidFill>
                <a:latin typeface="Calibri" pitchFamily="34" charset="0"/>
                <a:ea typeface="Calibri" pitchFamily="34" charset="-122"/>
                <a:cs typeface="Calibri" pitchFamily="34" charset="-120"/>
              </a:rPr>
              <a:t>Dentro de la misma empresa, CON octógono cayó y SIN octógono creció: una brecha de 34,9 p.p.</a:t>
            </a:r>
            <a:endParaRPr lang="en-US" sz="1250" dirty="0"/>
          </a:p>
        </p:txBody>
      </p:sp>
      <p:sp>
        <p:nvSpPr>
          <p:cNvPr id="9" name="Shape 6"/>
          <p:cNvSpPr/>
          <p:nvPr/>
        </p:nvSpPr>
        <p:spPr>
          <a:xfrm>
            <a:off x="6217920" y="1554480"/>
            <a:ext cx="5440680" cy="1170432"/>
          </a:xfrm>
          <a:prstGeom prst="roundRect">
            <a:avLst>
              <a:gd name="adj" fmla="val 5469"/>
            </a:avLst>
          </a:prstGeom>
          <a:solidFill>
            <a:srgbClr val="1E3354"/>
          </a:solidFill>
          <a:ln/>
        </p:spPr>
      </p:sp>
      <p:sp>
        <p:nvSpPr>
          <p:cNvPr id="10" name="Text 7"/>
          <p:cNvSpPr/>
          <p:nvPr/>
        </p:nvSpPr>
        <p:spPr>
          <a:xfrm>
            <a:off x="6492240" y="1682496"/>
            <a:ext cx="4937760" cy="365760"/>
          </a:xfrm>
          <a:prstGeom prst="rect">
            <a:avLst/>
          </a:prstGeom>
          <a:noFill/>
          <a:ln/>
        </p:spPr>
        <p:txBody>
          <a:bodyPr wrap="square" lIns="0" tIns="0" rIns="0" bIns="0" rtlCol="0" anchor="ctr"/>
          <a:lstStyle/>
          <a:p>
            <a:pPr indent="0" marL="0">
              <a:buNone/>
            </a:pPr>
            <a:r>
              <a:rPr lang="en-US" sz="1800" b="1" dirty="0">
                <a:solidFill>
                  <a:srgbClr val="1A9E8F"/>
                </a:solidFill>
                <a:latin typeface="Cambria" pitchFamily="34" charset="0"/>
                <a:ea typeface="Cambria" pitchFamily="34" charset="-122"/>
                <a:cs typeface="Cambria" pitchFamily="34" charset="-120"/>
              </a:rPr>
              <a:t>El precio no manda</a:t>
            </a:r>
            <a:endParaRPr lang="en-US" sz="1800" dirty="0"/>
          </a:p>
        </p:txBody>
      </p:sp>
      <p:sp>
        <p:nvSpPr>
          <p:cNvPr id="11" name="Text 8"/>
          <p:cNvSpPr/>
          <p:nvPr/>
        </p:nvSpPr>
        <p:spPr>
          <a:xfrm>
            <a:off x="6492240" y="2066544"/>
            <a:ext cx="4937760" cy="566928"/>
          </a:xfrm>
          <a:prstGeom prst="rect">
            <a:avLst/>
          </a:prstGeom>
          <a:noFill/>
          <a:ln/>
        </p:spPr>
        <p:txBody>
          <a:bodyPr wrap="square" lIns="0" tIns="0" rIns="0" bIns="0" rtlCol="0" anchor="t"/>
          <a:lstStyle/>
          <a:p>
            <a:pPr indent="0" marL="0">
              <a:lnSpc>
                <a:spcPct val="103000"/>
              </a:lnSpc>
              <a:buNone/>
            </a:pPr>
            <a:r>
              <a:rPr lang="en-US" sz="1250" dirty="0">
                <a:solidFill>
                  <a:srgbClr val="D5DEEA"/>
                </a:solidFill>
                <a:latin typeface="Calibri" pitchFamily="34" charset="0"/>
                <a:ea typeface="Calibri" pitchFamily="34" charset="-122"/>
                <a:cs typeface="Calibri" pitchFamily="34" charset="-120"/>
              </a:rPr>
              <a:t>En términos reales (FACPCE), SIN se encareció más (+20,3%) y aun así ganó volumen. La divergencia no se explica por precio.</a:t>
            </a:r>
            <a:endParaRPr lang="en-US" sz="1250" dirty="0"/>
          </a:p>
        </p:txBody>
      </p:sp>
      <p:sp>
        <p:nvSpPr>
          <p:cNvPr id="12" name="Shape 9"/>
          <p:cNvSpPr/>
          <p:nvPr/>
        </p:nvSpPr>
        <p:spPr>
          <a:xfrm>
            <a:off x="566928" y="2926080"/>
            <a:ext cx="5440680" cy="1170432"/>
          </a:xfrm>
          <a:prstGeom prst="roundRect">
            <a:avLst>
              <a:gd name="adj" fmla="val 5469"/>
            </a:avLst>
          </a:prstGeom>
          <a:solidFill>
            <a:srgbClr val="1E3354"/>
          </a:solidFill>
          <a:ln/>
        </p:spPr>
      </p:sp>
      <p:sp>
        <p:nvSpPr>
          <p:cNvPr id="13" name="Text 10"/>
          <p:cNvSpPr/>
          <p:nvPr/>
        </p:nvSpPr>
        <p:spPr>
          <a:xfrm>
            <a:off x="841248" y="3054096"/>
            <a:ext cx="4937760" cy="365760"/>
          </a:xfrm>
          <a:prstGeom prst="rect">
            <a:avLst/>
          </a:prstGeom>
          <a:noFill/>
          <a:ln/>
        </p:spPr>
        <p:txBody>
          <a:bodyPr wrap="square" lIns="0" tIns="0" rIns="0" bIns="0" rtlCol="0" anchor="ctr"/>
          <a:lstStyle/>
          <a:p>
            <a:pPr indent="0" marL="0">
              <a:buNone/>
            </a:pPr>
            <a:r>
              <a:rPr lang="en-US" sz="1800" b="1" dirty="0">
                <a:solidFill>
                  <a:srgbClr val="1A9E8F"/>
                </a:solidFill>
                <a:latin typeface="Cambria" pitchFamily="34" charset="0"/>
                <a:ea typeface="Cambria" pitchFamily="34" charset="-122"/>
                <a:cs typeface="Cambria" pitchFamily="34" charset="-120"/>
              </a:rPr>
              <a:t>Efecto sustituto</a:t>
            </a:r>
            <a:endParaRPr lang="en-US" sz="1800" dirty="0"/>
          </a:p>
        </p:txBody>
      </p:sp>
      <p:sp>
        <p:nvSpPr>
          <p:cNvPr id="14" name="Text 11"/>
          <p:cNvSpPr/>
          <p:nvPr/>
        </p:nvSpPr>
        <p:spPr>
          <a:xfrm>
            <a:off x="841248" y="3438144"/>
            <a:ext cx="4937760" cy="566928"/>
          </a:xfrm>
          <a:prstGeom prst="rect">
            <a:avLst/>
          </a:prstGeom>
          <a:noFill/>
          <a:ln/>
        </p:spPr>
        <p:txBody>
          <a:bodyPr wrap="square" lIns="0" tIns="0" rIns="0" bIns="0" rtlCol="0" anchor="t"/>
          <a:lstStyle/>
          <a:p>
            <a:pPr indent="0" marL="0">
              <a:lnSpc>
                <a:spcPct val="103000"/>
              </a:lnSpc>
              <a:buNone/>
            </a:pPr>
            <a:r>
              <a:rPr lang="en-US" sz="1250" dirty="0">
                <a:solidFill>
                  <a:srgbClr val="D5DEEA"/>
                </a:solidFill>
                <a:latin typeface="Calibri" pitchFamily="34" charset="0"/>
                <a:ea typeface="Calibri" pitchFamily="34" charset="-122"/>
                <a:cs typeface="Calibri" pitchFamily="34" charset="-120"/>
              </a:rPr>
              <a:t>Elasticidad −0,15 en CON y +0,11 en SIN: la demanda se redirigió hacia los productos sin sello.</a:t>
            </a:r>
            <a:endParaRPr lang="en-US" sz="1250" dirty="0"/>
          </a:p>
        </p:txBody>
      </p:sp>
      <p:sp>
        <p:nvSpPr>
          <p:cNvPr id="15" name="Shape 12"/>
          <p:cNvSpPr/>
          <p:nvPr/>
        </p:nvSpPr>
        <p:spPr>
          <a:xfrm>
            <a:off x="6217920" y="2926080"/>
            <a:ext cx="5440680" cy="1170432"/>
          </a:xfrm>
          <a:prstGeom prst="roundRect">
            <a:avLst>
              <a:gd name="adj" fmla="val 5469"/>
            </a:avLst>
          </a:prstGeom>
          <a:solidFill>
            <a:srgbClr val="1E3354"/>
          </a:solidFill>
          <a:ln/>
        </p:spPr>
      </p:sp>
      <p:sp>
        <p:nvSpPr>
          <p:cNvPr id="16" name="Text 13"/>
          <p:cNvSpPr/>
          <p:nvPr/>
        </p:nvSpPr>
        <p:spPr>
          <a:xfrm>
            <a:off x="6492240" y="3054096"/>
            <a:ext cx="4937760" cy="365760"/>
          </a:xfrm>
          <a:prstGeom prst="rect">
            <a:avLst/>
          </a:prstGeom>
          <a:noFill/>
          <a:ln/>
        </p:spPr>
        <p:txBody>
          <a:bodyPr wrap="square" lIns="0" tIns="0" rIns="0" bIns="0" rtlCol="0" anchor="ctr"/>
          <a:lstStyle/>
          <a:p>
            <a:pPr indent="0" marL="0">
              <a:buNone/>
            </a:pPr>
            <a:r>
              <a:rPr lang="en-US" sz="1800" b="1" dirty="0">
                <a:solidFill>
                  <a:srgbClr val="1A9E8F"/>
                </a:solidFill>
                <a:latin typeface="Cambria" pitchFamily="34" charset="0"/>
                <a:ea typeface="Cambria" pitchFamily="34" charset="-122"/>
                <a:cs typeface="Cambria" pitchFamily="34" charset="-120"/>
              </a:rPr>
              <a:t>Efecto persistente</a:t>
            </a:r>
            <a:endParaRPr lang="en-US" sz="1800" dirty="0"/>
          </a:p>
        </p:txBody>
      </p:sp>
      <p:sp>
        <p:nvSpPr>
          <p:cNvPr id="17" name="Text 14"/>
          <p:cNvSpPr/>
          <p:nvPr/>
        </p:nvSpPr>
        <p:spPr>
          <a:xfrm>
            <a:off x="6492240" y="3438144"/>
            <a:ext cx="4937760" cy="566928"/>
          </a:xfrm>
          <a:prstGeom prst="rect">
            <a:avLst/>
          </a:prstGeom>
          <a:noFill/>
          <a:ln/>
        </p:spPr>
        <p:txBody>
          <a:bodyPr wrap="square" lIns="0" tIns="0" rIns="0" bIns="0" rtlCol="0" anchor="t"/>
          <a:lstStyle/>
          <a:p>
            <a:pPr indent="0" marL="0">
              <a:lnSpc>
                <a:spcPct val="103000"/>
              </a:lnSpc>
              <a:buNone/>
            </a:pPr>
            <a:r>
              <a:rPr lang="en-US" sz="1250" dirty="0">
                <a:solidFill>
                  <a:srgbClr val="D5DEEA"/>
                </a:solidFill>
                <a:latin typeface="Calibri" pitchFamily="34" charset="0"/>
                <a:ea typeface="Calibri" pitchFamily="34" charset="-122"/>
                <a:cs typeface="Calibri" pitchFamily="34" charset="-120"/>
              </a:rPr>
              <a:t>La brecha máxima fue en 2023 (26,1 p.p.). El efecto no fue puntual ni se disipó con el tiempo.</a:t>
            </a:r>
            <a:endParaRPr lang="en-US" sz="1250" dirty="0"/>
          </a:p>
        </p:txBody>
      </p:sp>
      <p:sp>
        <p:nvSpPr>
          <p:cNvPr id="18" name="Text 15"/>
          <p:cNvSpPr/>
          <p:nvPr/>
        </p:nvSpPr>
        <p:spPr>
          <a:xfrm>
            <a:off x="566928" y="4526280"/>
            <a:ext cx="11064240" cy="64008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La evidencia es consistente con un impacto real de la Ley 27.642 sobre las decisiones de compra de los consumidores.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63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E0A100"/>
          </a:solidFill>
          <a:ln/>
        </p:spPr>
      </p:sp>
      <p:pic>
        <p:nvPicPr>
          <p:cNvPr id="3" name="Image 0" descr="preencoded.png">    </p:cNvPr>
          <p:cNvPicPr>
            <a:picLocks noChangeAspect="1"/>
          </p:cNvPicPr>
          <p:nvPr/>
        </p:nvPicPr>
        <p:blipFill>
          <a:blip r:embed="rId1"/>
          <a:stretch>
            <a:fillRect/>
          </a:stretch>
        </p:blipFill>
        <p:spPr>
          <a:xfrm>
            <a:off x="704088" y="640080"/>
            <a:ext cx="292608" cy="292608"/>
          </a:xfrm>
          <a:prstGeom prst="rect">
            <a:avLst/>
          </a:prstGeom>
        </p:spPr>
      </p:pic>
      <p:sp>
        <p:nvSpPr>
          <p:cNvPr id="4" name="Text 1"/>
          <p:cNvSpPr/>
          <p:nvPr/>
        </p:nvSpPr>
        <p:spPr>
          <a:xfrm>
            <a:off x="1316736" y="457200"/>
            <a:ext cx="9144000" cy="274320"/>
          </a:xfrm>
          <a:prstGeom prst="rect">
            <a:avLst/>
          </a:prstGeom>
          <a:noFill/>
          <a:ln/>
        </p:spPr>
        <p:txBody>
          <a:bodyPr wrap="square" lIns="0" tIns="0" rIns="0" bIns="0" rtlCol="0" anchor="ctr"/>
          <a:lstStyle/>
          <a:p>
            <a:pPr indent="0" marL="0">
              <a:buNone/>
            </a:pPr>
            <a:r>
              <a:rPr lang="en-US" sz="1100" b="1" spc="200" kern="0" dirty="0">
                <a:solidFill>
                  <a:srgbClr val="E0A100"/>
                </a:solidFill>
                <a:latin typeface="Calibri" pitchFamily="34" charset="0"/>
                <a:ea typeface="Calibri" pitchFamily="34" charset="-122"/>
                <a:cs typeface="Calibri" pitchFamily="34" charset="-120"/>
              </a:rPr>
              <a:t>LIMITACIONES Y REFLEXIÓN METODOLÓGICA</a:t>
            </a:r>
            <a:endParaRPr lang="en-US" sz="1100" dirty="0"/>
          </a:p>
        </p:txBody>
      </p:sp>
      <p:sp>
        <p:nvSpPr>
          <p:cNvPr id="5" name="Text 2"/>
          <p:cNvSpPr/>
          <p:nvPr/>
        </p:nvSpPr>
        <p:spPr>
          <a:xfrm>
            <a:off x="1316736" y="713232"/>
            <a:ext cx="104241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Qué dejamos abierto y cómo trabajamos</a:t>
            </a:r>
            <a:endParaRPr lang="en-US" sz="2600" dirty="0"/>
          </a:p>
        </p:txBody>
      </p:sp>
      <p:sp>
        <p:nvSpPr>
          <p:cNvPr id="6" name="Shape 3"/>
          <p:cNvSpPr/>
          <p:nvPr/>
        </p:nvSpPr>
        <p:spPr>
          <a:xfrm>
            <a:off x="566928" y="1645920"/>
            <a:ext cx="5440680" cy="2743200"/>
          </a:xfrm>
          <a:prstGeom prst="roundRect">
            <a:avLst>
              <a:gd name="adj" fmla="val 2333"/>
            </a:avLst>
          </a:prstGeom>
          <a:solidFill>
            <a:srgbClr val="1E3354"/>
          </a:solidFill>
          <a:ln/>
        </p:spPr>
      </p:sp>
      <p:sp>
        <p:nvSpPr>
          <p:cNvPr id="7" name="Text 4"/>
          <p:cNvSpPr/>
          <p:nvPr/>
        </p:nvSpPr>
        <p:spPr>
          <a:xfrm>
            <a:off x="886968" y="1828800"/>
            <a:ext cx="4846320" cy="365760"/>
          </a:xfrm>
          <a:prstGeom prst="rect">
            <a:avLst/>
          </a:prstGeom>
          <a:noFill/>
          <a:ln/>
        </p:spPr>
        <p:txBody>
          <a:bodyPr wrap="square" lIns="0" tIns="0" rIns="0" bIns="0" rtlCol="0" anchor="ctr"/>
          <a:lstStyle/>
          <a:p>
            <a:pPr indent="0" marL="0">
              <a:buNone/>
            </a:pPr>
            <a:r>
              <a:rPr lang="en-US" sz="1800" b="1" dirty="0">
                <a:solidFill>
                  <a:srgbClr val="E0A100"/>
                </a:solidFill>
                <a:latin typeface="Cambria" pitchFamily="34" charset="0"/>
                <a:ea typeface="Cambria" pitchFamily="34" charset="-122"/>
                <a:cs typeface="Cambria" pitchFamily="34" charset="-120"/>
              </a:rPr>
              <a:t>Limitaciones</a:t>
            </a:r>
            <a:endParaRPr lang="en-US" sz="1800" dirty="0"/>
          </a:p>
        </p:txBody>
      </p:sp>
      <p:sp>
        <p:nvSpPr>
          <p:cNvPr id="8" name="Text 5"/>
          <p:cNvSpPr/>
          <p:nvPr/>
        </p:nvSpPr>
        <p:spPr>
          <a:xfrm>
            <a:off x="886968" y="2286000"/>
            <a:ext cx="4846320" cy="1920240"/>
          </a:xfrm>
          <a:prstGeom prst="rect">
            <a:avLst/>
          </a:prstGeom>
          <a:noFill/>
          <a:ln/>
        </p:spPr>
        <p:txBody>
          <a:bodyPr wrap="square" rtlCol="0" anchor="t"/>
          <a:lstStyle/>
          <a:p>
            <a:pPr marL="342900" indent="-342900">
              <a:lnSpc>
                <a:spcPct val="105000"/>
              </a:lnSpc>
              <a:spcAft>
                <a:spcPts val="800"/>
              </a:spcAft>
              <a:buSzPct val="100000"/>
              <a:buChar char="•"/>
            </a:pPr>
            <a:r>
              <a:rPr lang="en-US" sz="1350" dirty="0">
                <a:solidFill>
                  <a:srgbClr val="D5DEEA"/>
                </a:solidFill>
                <a:latin typeface="Calibri" pitchFamily="34" charset="0"/>
                <a:ea typeface="Calibri" pitchFamily="34" charset="-122"/>
                <a:cs typeface="Calibri" pitchFamily="34" charset="-120"/>
              </a:rPr>
              <a:t>Datos de una sola empresa y un canal: no generalizable a todo el mercado.</a:t>
            </a:r>
            <a:endParaRPr lang="en-US" sz="1350" dirty="0"/>
          </a:p>
          <a:p>
            <a:pPr marL="342900" indent="-342900">
              <a:lnSpc>
                <a:spcPct val="105000"/>
              </a:lnSpc>
              <a:spcAft>
                <a:spcPts val="800"/>
              </a:spcAft>
              <a:buSzPct val="100000"/>
              <a:buChar char="•"/>
            </a:pPr>
            <a:r>
              <a:rPr lang="en-US" sz="1350" dirty="0">
                <a:solidFill>
                  <a:srgbClr val="D5DEEA"/>
                </a:solidFill>
                <a:latin typeface="Calibri" pitchFamily="34" charset="0"/>
                <a:ea typeface="Calibri" pitchFamily="34" charset="-122"/>
                <a:cs typeface="Calibri" pitchFamily="34" charset="-120"/>
              </a:rPr>
              <a:t>La clasificación nutricional usa valores aproximados de etiquetas comerciales.</a:t>
            </a:r>
            <a:endParaRPr lang="en-US" sz="1350" dirty="0"/>
          </a:p>
          <a:p>
            <a:pPr marL="342900" indent="-342900">
              <a:lnSpc>
                <a:spcPct val="105000"/>
              </a:lnSpc>
              <a:buSzPct val="100000"/>
              <a:buChar char="•"/>
            </a:pPr>
            <a:r>
              <a:rPr lang="en-US" sz="1350" dirty="0">
                <a:solidFill>
                  <a:srgbClr val="D5DEEA"/>
                </a:solidFill>
                <a:latin typeface="Calibri" pitchFamily="34" charset="0"/>
                <a:ea typeface="Calibri" pitchFamily="34" charset="-122"/>
                <a:cs typeface="Calibri" pitchFamily="34" charset="-120"/>
              </a:rPr>
              <a:t>Extensión natural: sumar más empresas y más años de datos.</a:t>
            </a:r>
            <a:endParaRPr lang="en-US" sz="1350" dirty="0"/>
          </a:p>
        </p:txBody>
      </p:sp>
      <p:sp>
        <p:nvSpPr>
          <p:cNvPr id="9" name="Shape 6"/>
          <p:cNvSpPr/>
          <p:nvPr/>
        </p:nvSpPr>
        <p:spPr>
          <a:xfrm>
            <a:off x="6181344" y="1645920"/>
            <a:ext cx="5440680" cy="2743200"/>
          </a:xfrm>
          <a:prstGeom prst="roundRect">
            <a:avLst>
              <a:gd name="adj" fmla="val 2333"/>
            </a:avLst>
          </a:prstGeom>
          <a:solidFill>
            <a:srgbClr val="1E3354"/>
          </a:solidFill>
          <a:ln/>
        </p:spPr>
      </p:sp>
      <p:sp>
        <p:nvSpPr>
          <p:cNvPr id="10" name="Text 7"/>
          <p:cNvSpPr/>
          <p:nvPr/>
        </p:nvSpPr>
        <p:spPr>
          <a:xfrm>
            <a:off x="6501384" y="1828800"/>
            <a:ext cx="4846320" cy="365760"/>
          </a:xfrm>
          <a:prstGeom prst="rect">
            <a:avLst/>
          </a:prstGeom>
          <a:noFill/>
          <a:ln/>
        </p:spPr>
        <p:txBody>
          <a:bodyPr wrap="square" lIns="0" tIns="0" rIns="0" bIns="0" rtlCol="0" anchor="ctr"/>
          <a:lstStyle/>
          <a:p>
            <a:pPr indent="0" marL="0">
              <a:buNone/>
            </a:pPr>
            <a:r>
              <a:rPr lang="en-US" sz="1800" b="1" dirty="0">
                <a:solidFill>
                  <a:srgbClr val="1A9E8F"/>
                </a:solidFill>
                <a:latin typeface="Cambria" pitchFamily="34" charset="0"/>
                <a:ea typeface="Cambria" pitchFamily="34" charset="-122"/>
                <a:cs typeface="Cambria" pitchFamily="34" charset="-120"/>
              </a:rPr>
              <a:t>Uso de IA y aprendizajes</a:t>
            </a:r>
            <a:endParaRPr lang="en-US" sz="1800" dirty="0"/>
          </a:p>
        </p:txBody>
      </p:sp>
      <p:sp>
        <p:nvSpPr>
          <p:cNvPr id="11" name="Text 8"/>
          <p:cNvSpPr/>
          <p:nvPr/>
        </p:nvSpPr>
        <p:spPr>
          <a:xfrm>
            <a:off x="6501384" y="2286000"/>
            <a:ext cx="4846320" cy="1920240"/>
          </a:xfrm>
          <a:prstGeom prst="rect">
            <a:avLst/>
          </a:prstGeom>
          <a:noFill/>
          <a:ln/>
        </p:spPr>
        <p:txBody>
          <a:bodyPr wrap="square" rtlCol="0" anchor="t"/>
          <a:lstStyle/>
          <a:p>
            <a:pPr marL="342900" indent="-342900">
              <a:lnSpc>
                <a:spcPct val="105000"/>
              </a:lnSpc>
              <a:spcAft>
                <a:spcPts val="800"/>
              </a:spcAft>
              <a:buSzPct val="100000"/>
              <a:buChar char="•"/>
            </a:pPr>
            <a:r>
              <a:rPr lang="en-US" sz="1350" dirty="0">
                <a:solidFill>
                  <a:srgbClr val="D5DEEA"/>
                </a:solidFill>
                <a:latin typeface="Calibri" pitchFamily="34" charset="0"/>
                <a:ea typeface="Calibri" pitchFamily="34" charset="-122"/>
                <a:cs typeface="Calibri" pitchFamily="34" charset="-120"/>
              </a:rPr>
              <a:t>Claude asistió en parsing del CSV, código de gráficos y funciones; cada celda indica su prompt.</a:t>
            </a:r>
            <a:endParaRPr lang="en-US" sz="1350" dirty="0"/>
          </a:p>
          <a:p>
            <a:pPr marL="342900" indent="-342900">
              <a:lnSpc>
                <a:spcPct val="105000"/>
              </a:lnSpc>
              <a:spcAft>
                <a:spcPts val="800"/>
              </a:spcAft>
              <a:buSzPct val="100000"/>
              <a:buChar char="•"/>
            </a:pPr>
            <a:r>
              <a:rPr lang="en-US" sz="1350" dirty="0">
                <a:solidFill>
                  <a:srgbClr val="D5DEEA"/>
                </a:solidFill>
                <a:latin typeface="Calibri" pitchFamily="34" charset="0"/>
                <a:ea typeface="Calibri" pitchFamily="34" charset="-122"/>
                <a:cs typeface="Calibri" pitchFamily="34" charset="-120"/>
              </a:rPr>
              <a:t>Un script de verificación contrastó todos los números del informe contra el dataset.</a:t>
            </a:r>
            <a:endParaRPr lang="en-US" sz="1350" dirty="0"/>
          </a:p>
          <a:p>
            <a:pPr marL="342900" indent="-342900">
              <a:lnSpc>
                <a:spcPct val="105000"/>
              </a:lnSpc>
              <a:buSzPct val="100000"/>
              <a:buChar char="•"/>
            </a:pPr>
            <a:r>
              <a:rPr lang="en-US" sz="1350" dirty="0">
                <a:solidFill>
                  <a:srgbClr val="D5DEEA"/>
                </a:solidFill>
                <a:latin typeface="Calibri" pitchFamily="34" charset="0"/>
                <a:ea typeface="Calibri" pitchFamily="34" charset="-122"/>
                <a:cs typeface="Calibri" pitchFamily="34" charset="-120"/>
              </a:rPr>
              <a:t>Aprendizaje clave: la deflación FACPCE fue el paso que faltaba para cerrar el argumento del precio.</a:t>
            </a:r>
            <a:endParaRPr lang="en-US" sz="1350" dirty="0"/>
          </a:p>
        </p:txBody>
      </p:sp>
      <p:pic>
        <p:nvPicPr>
          <p:cNvPr id="12" name="Image 1" descr="preencoded.png">    </p:cNvPr>
          <p:cNvPicPr>
            <a:picLocks noChangeAspect="1"/>
          </p:cNvPicPr>
          <p:nvPr/>
        </p:nvPicPr>
        <p:blipFill>
          <a:blip r:embed="rId2"/>
          <a:stretch>
            <a:fillRect/>
          </a:stretch>
        </p:blipFill>
        <p:spPr>
          <a:xfrm>
            <a:off x="5500116" y="4709160"/>
            <a:ext cx="1188720" cy="1188720"/>
          </a:xfrm>
          <a:prstGeom prst="rect">
            <a:avLst/>
          </a:prstGeom>
        </p:spPr>
      </p:pic>
      <p:sp>
        <p:nvSpPr>
          <p:cNvPr id="13" name="Text 9"/>
          <p:cNvSpPr/>
          <p:nvPr/>
        </p:nvSpPr>
        <p:spPr>
          <a:xfrm>
            <a:off x="0" y="5989320"/>
            <a:ext cx="12188952" cy="5486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¡Gracias! Quedamos para las preguntas.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Impacto de la Ley de Etiquetado Frontal — General Cereals S.A.</dc:title>
  <dc:subject>PptxGenJS Presentation</dc:subject>
  <dc:creator>Grupo TP · FCE UBA</dc:creator>
  <cp:lastModifiedBy>Grupo TP · FCE UBA</cp:lastModifiedBy>
  <cp:revision>1</cp:revision>
  <dcterms:created xsi:type="dcterms:W3CDTF">2026-06-12T20:32:18Z</dcterms:created>
  <dcterms:modified xsi:type="dcterms:W3CDTF">2026-06-12T20:32:18Z</dcterms:modified>
</cp:coreProperties>
</file>